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372e9c48154974" /><Relationship Type="http://schemas.openxmlformats.org/officeDocument/2006/relationships/extended-properties" Target="/docProps/app.xml" Id="R8fec3274912a4872" /><Relationship Type="http://schemas.openxmlformats.org/officeDocument/2006/relationships/officeDocument" Target="/ppt/presentation.xml" Id="R1595f543ff2940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e267548f634102"/>
  </p:sldMasterIdLst>
  <p:notesMasterIdLst>
    <p:notesMasterId xmlns:r="http://schemas.openxmlformats.org/officeDocument/2006/relationships" r:id="R30d5f1415db44893"/>
  </p:notesMasterIdLst>
  <p:sldIdLst>
    <p:sldId xmlns:r="http://schemas.openxmlformats.org/officeDocument/2006/relationships" id="256" r:id="Ra74f43ffd1ca4263"/>
    <p:sldId xmlns:r="http://schemas.openxmlformats.org/officeDocument/2006/relationships" id="257" r:id="R44edc7ba334d4a7b"/>
    <p:sldId xmlns:r="http://schemas.openxmlformats.org/officeDocument/2006/relationships" id="258" r:id="Rff735f9da12b4bdd"/>
    <p:sldId xmlns:r="http://schemas.openxmlformats.org/officeDocument/2006/relationships" id="259" r:id="R5acd7629b86d4c83"/>
    <p:sldId xmlns:r="http://schemas.openxmlformats.org/officeDocument/2006/relationships" id="260" r:id="Rf9f94acc2ea24233"/>
    <p:sldId xmlns:r="http://schemas.openxmlformats.org/officeDocument/2006/relationships" id="261" r:id="Re88dd8ec43f34131"/>
    <p:sldId xmlns:r="http://schemas.openxmlformats.org/officeDocument/2006/relationships" id="262" r:id="Rb17fff375d9a4174"/>
    <p:sldId xmlns:r="http://schemas.openxmlformats.org/officeDocument/2006/relationships" id="263" r:id="R040bf6f2d98e4d1c"/>
    <p:sldId xmlns:r="http://schemas.openxmlformats.org/officeDocument/2006/relationships" id="264" r:id="R4c560e6d506e4bc0"/>
    <p:sldId xmlns:r="http://schemas.openxmlformats.org/officeDocument/2006/relationships" id="265" r:id="Raaa63e363c2e46ba"/>
    <p:sldId xmlns:r="http://schemas.openxmlformats.org/officeDocument/2006/relationships" id="266" r:id="R67697cd72ade4661"/>
    <p:sldId xmlns:r="http://schemas.openxmlformats.org/officeDocument/2006/relationships" id="267" r:id="R30d1720f6fc64135"/>
    <p:sldId xmlns:r="http://schemas.openxmlformats.org/officeDocument/2006/relationships" id="268" r:id="R49f858ec1b264b78"/>
    <p:sldId xmlns:r="http://schemas.openxmlformats.org/officeDocument/2006/relationships" id="269" r:id="R2b13c54906ae411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174854718e4828" /><Relationship Type="http://schemas.openxmlformats.org/officeDocument/2006/relationships/slideMaster" Target="/ppt/slideMasters/slideMaster1.xml" Id="R35e267548f634102" /><Relationship Type="http://schemas.openxmlformats.org/officeDocument/2006/relationships/notesMaster" Target="/ppt/notesMasters/notesMaster1.xml" Id="R30d5f1415db44893" /><Relationship Type="http://schemas.openxmlformats.org/officeDocument/2006/relationships/presProps" Target="/ppt/presProps.xml" Id="R79a8b1a6128b4e65" /><Relationship Type="http://schemas.openxmlformats.org/officeDocument/2006/relationships/tableStyles" Target="/ppt/tableStyles.xml" Id="Rb24efa751c454c11" /><Relationship Type="http://schemas.openxmlformats.org/officeDocument/2006/relationships/slide" Target="/ppt/slides/slide1.xml" Id="Ra74f43ffd1ca4263" /><Relationship Type="http://schemas.openxmlformats.org/officeDocument/2006/relationships/slide" Target="/ppt/slides/slide2.xml" Id="R44edc7ba334d4a7b" /><Relationship Type="http://schemas.openxmlformats.org/officeDocument/2006/relationships/slide" Target="/ppt/slides/slide3.xml" Id="Rff735f9da12b4bdd" /><Relationship Type="http://schemas.openxmlformats.org/officeDocument/2006/relationships/slide" Target="/ppt/slides/slide4.xml" Id="R5acd7629b86d4c83" /><Relationship Type="http://schemas.openxmlformats.org/officeDocument/2006/relationships/slide" Target="/ppt/slides/slide5.xml" Id="Rf9f94acc2ea24233" /><Relationship Type="http://schemas.openxmlformats.org/officeDocument/2006/relationships/slide" Target="/ppt/slides/slide6.xml" Id="Re88dd8ec43f34131" /><Relationship Type="http://schemas.openxmlformats.org/officeDocument/2006/relationships/slide" Target="/ppt/slides/slide7.xml" Id="Rb17fff375d9a4174" /><Relationship Type="http://schemas.openxmlformats.org/officeDocument/2006/relationships/slide" Target="/ppt/slides/slide8.xml" Id="R040bf6f2d98e4d1c" /><Relationship Type="http://schemas.openxmlformats.org/officeDocument/2006/relationships/slide" Target="/ppt/slides/slide9.xml" Id="R4c560e6d506e4bc0" /><Relationship Type="http://schemas.openxmlformats.org/officeDocument/2006/relationships/slide" Target="/ppt/slides/slide10.xml" Id="Raaa63e363c2e46ba" /><Relationship Type="http://schemas.openxmlformats.org/officeDocument/2006/relationships/slide" Target="/ppt/slides/slide11.xml" Id="R67697cd72ade4661" /><Relationship Type="http://schemas.openxmlformats.org/officeDocument/2006/relationships/slide" Target="/ppt/slides/slide12.xml" Id="R30d1720f6fc64135" /><Relationship Type="http://schemas.openxmlformats.org/officeDocument/2006/relationships/slide" Target="/ppt/slides/slide13.xml" Id="R49f858ec1b264b78" /><Relationship Type="http://schemas.openxmlformats.org/officeDocument/2006/relationships/slide" Target="/ppt/slides/slide14.xml" Id="R2b13c54906ae41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136f63b68945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be180d3a1f465e" /><Relationship Type="http://schemas.openxmlformats.org/officeDocument/2006/relationships/notesMaster" Target="/ppt/notesMasters/notesMaster1.xml" Id="R7d044a5ad6f148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3fd1b6e85b4cc4" /><Relationship Type="http://schemas.openxmlformats.org/officeDocument/2006/relationships/notesMaster" Target="/ppt/notesMasters/notesMaster1.xml" Id="R359b98bb6a824a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b0f98aa07343d5" /><Relationship Type="http://schemas.openxmlformats.org/officeDocument/2006/relationships/notesMaster" Target="/ppt/notesMasters/notesMaster1.xml" Id="Re07db6081c974e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2cd3d66b8d47e4" /><Relationship Type="http://schemas.openxmlformats.org/officeDocument/2006/relationships/notesMaster" Target="/ppt/notesMasters/notesMaster1.xml" Id="R9726d7a0574546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b1eb4110da4d21" /><Relationship Type="http://schemas.openxmlformats.org/officeDocument/2006/relationships/notesMaster" Target="/ppt/notesMasters/notesMaster1.xml" Id="R1c35b416b24b45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32c1b5b0f04d60" /><Relationship Type="http://schemas.openxmlformats.org/officeDocument/2006/relationships/notesMaster" Target="/ppt/notesMasters/notesMaster1.xml" Id="R08c6d12c135e4f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efd7d494aad4240" /><Relationship Type="http://schemas.openxmlformats.org/officeDocument/2006/relationships/notesMaster" Target="/ppt/notesMasters/notesMaster1.xml" Id="Rebcd15355e9c4b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2b8c9252cc4b83" /><Relationship Type="http://schemas.openxmlformats.org/officeDocument/2006/relationships/notesMaster" Target="/ppt/notesMasters/notesMaster1.xml" Id="Ree002bb0e7c448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b3730edc7044bd" /><Relationship Type="http://schemas.openxmlformats.org/officeDocument/2006/relationships/notesMaster" Target="/ppt/notesMasters/notesMaster1.xml" Id="Rb28777ddeecc45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a9d23bbf8e49f0" /><Relationship Type="http://schemas.openxmlformats.org/officeDocument/2006/relationships/notesMaster" Target="/ppt/notesMasters/notesMaster1.xml" Id="R633b48c9138b48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f9c08f7d6749e2" /><Relationship Type="http://schemas.openxmlformats.org/officeDocument/2006/relationships/notesMaster" Target="/ppt/notesMasters/notesMaster1.xml" Id="R5e9c0d4cc72447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d2fd7ee6c574fb7" /><Relationship Type="http://schemas.openxmlformats.org/officeDocument/2006/relationships/notesMaster" Target="/ppt/notesMasters/notesMaster1.xml" Id="R8531a1e90e9249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79a6ba0f7b74945" /><Relationship Type="http://schemas.openxmlformats.org/officeDocument/2006/relationships/notesMaster" Target="/ppt/notesMasters/notesMaster1.xml" Id="R5c679439608043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7268e390154287" /><Relationship Type="http://schemas.openxmlformats.org/officeDocument/2006/relationships/notesMaster" Target="/ppt/notesMasters/notesMaster1.xml" Id="R51045b62d79d40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SportsHub as a football-first fan platform and immediately distinguish the working course release from its documented evolution.</a:t>
            </a:r>
          </a:p>
          <a:p xmlns:a="http://schemas.openxmlformats.org/drawingml/2006/main">
            <a:r>
              <a:t>The presentation moves from the problem and technology choices to requirements, implementation, UML evidence, testing, demonstration, and roadmap.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/Users/samsonkitigo/Documents/Codex/sportshub/.tmp/submission-review/screenshots/home-desktop.png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product in stakeholder terms before discussing features.</a:t>
            </a:r>
          </a:p>
          <a:p xmlns:a="http://schemas.openxmlformats.org/drawingml/2006/main">
            <a:r>
              <a:t>SportsHub owns accounts, preferences, internal associations, alert records, and normalized application behavior; external systems remain authoritative for sports and ticket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/Users/samsonkitigo/Documents/Codex/sportshub/docs/sportshub_usecase.pdf</a:t>
            </a:r>
          </a:p>
          <a:p xmlns:a="http://schemas.openxmlformats.org/drawingml/2006/main">
            <a:r>
              <a:t>- /Users/samsonkitigo/Documents/Codex/sportshub/docs/sportshub_architecture.pdf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why each technology was selected, not only what it is.</a:t>
            </a:r>
          </a:p>
          <a:p xmlns:a="http://schemas.openxmlformats.org/drawingml/2006/main">
            <a:r>
              <a:t>React and FastAPI create a clean browser-to-API boundary; TypeScript and Pydantic validate both sides; Docker makes the demonstration reproducible.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/Users/samsonkitigo/Documents/Codex/sportshub/sportshub-frontend/package.json</a:t>
            </a:r>
          </a:p>
          <a:p xmlns:a="http://schemas.openxmlformats.org/drawingml/2006/main">
            <a:r>
              <a:t>- /Users/samsonkitigo/Documents/Codex/sportshub/sportshub-backend/requirements.txt</a:t>
            </a:r>
          </a:p>
          <a:p xmlns:a="http://schemas.openxmlformats.org/drawingml/2006/main">
            <a:r>
              <a:t>- /Users/samsonkitigo/Documents/Codex/sportshub/compose.yaml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connect technology selection to requirements: relational persistence, provider replaceability, quota-conscious caching, and test evidence.</a:t>
            </a:r>
          </a:p>
          <a:p xmlns:a="http://schemas.openxmlformats.org/drawingml/2006/main">
            <a:r>
              <a:t>Redis and workers belong to the documented next architecture, not the current Docker stack.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- /Users/samsonkitigo/Documents/Codex/sportshub/sportshub-backend/alembic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status deliberately. The documents define the whole intended product; the labels show what the current executable release supports.</a:t>
            </a:r>
          </a:p>
          <a:p xmlns:a="http://schemas.openxmlformats.org/drawingml/2006/main">
            <a:r>
              <a:t>Ticket purchasing remains outside SportsHub, and removing a featured tournament never deletes the competition or its fixtures.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/Users/samsonkitigo/Documents/Codex/sportshub/docs/sportshub_usecase.pdf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executable scope checkpoint. Everything in the four cards is demonstrable in the current application.</a:t>
            </a:r>
          </a:p>
          <a:p xmlns:a="http://schemas.openxmlformats.org/drawingml/2006/main">
            <a:r>
              <a:t>The release-boundary strip prevents later design diagrams from being mistaken for completed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/Users/samsonkitigo/Documents/Codex/sportshub/sportshub-frontend/src/pages/HomePage.tsx</a:t>
            </a:r>
          </a:p>
          <a:p xmlns:a="http://schemas.openxmlformats.org/drawingml/2006/main">
            <a:r>
              <a:t>- /Users/samsonkitigo/Documents/Codex/sportshub/sportshub-frontend/src/pages/FixtureDetailPage.tsx</a:t>
            </a:r>
          </a:p>
          <a:p xmlns:a="http://schemas.openxmlformats.org/drawingml/2006/main">
            <a:r>
              <a:t>- /Users/samsonkitigo/Documents/Codex/sportshub/sportshub-frontend/src/pages/TeamsPage.tsx</a:t>
            </a:r>
          </a:p>
          <a:p xmlns:a="http://schemas.openxmlformats.org/drawingml/2006/main">
            <a:r>
              <a:t>- /Users/samsonkitigo/Documents/Codex/sportshub/sportshub-backend/app/api/notifications.py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a modular monolith was chosen: one deployable backend keeps transactions, testing, and course-team ownership understandable.</a:t>
            </a:r>
          </a:p>
          <a:p xmlns:a="http://schemas.openxmlformats.org/drawingml/2006/main">
            <a:r>
              <a:t>The architecture allows API instances and workers to scale separately later, but extraction into microservices requires measured load or availability needs.</a:t>
            </a:r>
          </a:p>
          <a:p xmlns:a="http://schemas.openxmlformats.org/drawingml/2006/main">
            <a:r>
              <a:t>The current runtime sports adapter is iSportsAPI even where earlier document labels use a generic or previous provider name.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/Users/samsonkitigo/Documents/Codex/sportshub/docs/sportshub_architecture.pdf</a:t>
            </a:r>
          </a:p>
          <a:p xmlns:a="http://schemas.openxmlformats.org/drawingml/2006/main">
            <a:r>
              <a:t>- /Users/samsonkitigo/Documents/Codex/sportshub/sportshub-backend/app/main.py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Sequence diagrams answer when each participant acts and what must happen before the next message.</a:t>
            </a:r>
          </a:p>
          <a:p xmlns:a="http://schemas.openxmlformats.org/drawingml/2006/main">
            <a:r>
              <a:t>For UC-01, subscription precedes initial detail retrieval and no missed-event replay is claimed.</a:t>
            </a:r>
          </a:p>
          <a:p xmlns:a="http://schemas.openxmlformats.org/drawingml/2006/main">
            <a:r>
              <a:t>The diagram’s provider boundary is replaceable; the current implementation uses iSportsAPI.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/Users/samsonkitigo/Documents/Codex/sportshub/docs/lab4_sequence_diagram.pdf</a:t>
            </a:r>
          </a:p>
          <a:p xmlns:a="http://schemas.openxmlformats.org/drawingml/2006/main">
            <a:r>
              <a:t>- /Users/samsonkitigo/Documents/Codex/sportshub/sportshub-backend/app/integrations/isports.py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this artifact with the sequence diagram: collaboration focuses on cooperation; VOPC focuses on participating classes and their relationships.</a:t>
            </a:r>
          </a:p>
          <a:p xmlns:a="http://schemas.openxmlformats.org/drawingml/2006/main">
            <a:r>
              <a:t>The submitted set covers live updates, team follow plus alert configuration, and ticket discovery.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/Users/samsonkitigo/Documents/Codex/sportshub/docs/SportsHub_Lab5.pdf</a:t>
            </a:r>
          </a:p>
          <a:p xmlns:a="http://schemas.openxmlformats.org/drawingml/2006/main">
            <a:r>
              <a:t>- /Users/samsonkitigo/Documents/Codex/sportshub/docs/lab4_sequence_diagram.pdf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the UI to backend enforcement: route protection improves experience, but authentication, authorization, validation, and user scoping are verified by the API.</a:t>
            </a:r>
          </a:p>
          <a:p xmlns:a="http://schemas.openxmlformats.org/drawingml/2006/main">
            <a:r>
              <a:t>Point out the controller-service-repository separation in the real package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/Users/samsonkitigo/Documents/Codex/sportshub/sportshub-backend/app/services/auth.py</a:t>
            </a:r>
          </a:p>
          <a:p xmlns:a="http://schemas.openxmlformats.org/drawingml/2006/main">
            <a:r>
              <a:t>- /Users/samsonkitigo/Documents/Codex/sportshub/sportshub-backend/app/api/dependencies.py</a:t>
            </a:r>
          </a:p>
          <a:p xmlns:a="http://schemas.openxmlformats.org/drawingml/2006/main">
            <a:r>
              <a:t>- /Users/samsonkitigo/Documents/Codex/sportshub/sportshub-backend/app/repositories</a:t>
            </a:r>
          </a:p>
          <a:p xmlns:a="http://schemas.openxmlformats.org/drawingml/2006/main">
            <a:r>
              <a:t>- /Users/samsonkitigo/Documents/Codex/sportshub/sportshub-backend/alembic</a:t>
            </a:r>
          </a:p>
          <a:p xmlns:a="http://schemas.openxmlformats.org/drawingml/2006/main">
            <a:r>
              <a:t>- /Users/samsonkitigo/Documents/Codex/sportshub/.tmp/submission-review/screenshots/sign-in-desktop.png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Testing is not a single count. Explain what each layer proves and show terminal output if time allows.</a:t>
            </a:r>
          </a:p>
          <a:p xmlns:a="http://schemas.openxmlformats.org/drawingml/2006/main">
            <a:r>
              <a:t>The PostgreSQL profile confirms migrations and repository behavior against the production database 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/Users/samsonkitigo/Documents/Codex/sportshub/docs/TEST_PLAN.md</a:t>
            </a:r>
          </a:p>
          <a:p xmlns:a="http://schemas.openxmlformats.org/drawingml/2006/main">
            <a:r>
              <a:t>- /Users/samsonkitigo/Documents/Codex/sportshub/Makefile</a:t>
            </a:r>
          </a:p>
          <a:p xmlns:a="http://schemas.openxmlformats.org/drawingml/2006/main">
            <a:r>
              <a:t>- /Users/samsonkitigo/Documents/Codex/sportshub/sportshub-backend/tests</a:t>
            </a:r>
          </a:p>
          <a:p xmlns:a="http://schemas.openxmlformats.org/drawingml/2006/main">
            <a:r>
              <a:t>- /Users/samsonkitigo/Documents/Codex/sportshub/sportshub-frontend/src/test/App.test.tsx</a:t>
            </a:r>
          </a:p>
          <a:p xmlns:a="http://schemas.openxmlformats.org/drawingml/2006/main">
            <a:r>
              <a:t>- /Users/samsonkitigo/Documents/Codex/sportshub/sportshub-frontend/e2e/smoke.spec.ts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live browser checklist. The route proves the major current-release use cases in one coherent story.</a:t>
            </a:r>
          </a:p>
          <a:p xmlns:a="http://schemas.openxmlformats.org/drawingml/2006/main">
            <a:r>
              <a:t>Keep the provider contingency ready so an external outage cannot stop the 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/Users/samsonkitigo/Documents/Codex/sportshub/sportshub-frontend/README.md</a:t>
            </a:r>
          </a:p>
          <a:p xmlns:a="http://schemas.openxmlformats.org/drawingml/2006/main">
            <a:r>
              <a:t>- /Users/samsonkitigo/Documents/Codex/sportshub/.tmp/submission-review/screenshots/team-explorer-desktop.png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product roadmap, not a submission checklist.</a:t>
            </a:r>
          </a:p>
          <a:p xmlns:a="http://schemas.openxmlformats.org/drawingml/2006/main">
            <a:r>
              <a:t>Near-term items come directly from the use-case and architecture documents. The later-scope column records ideas explicitly excluded from the initial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/Users/samsonkitigo/Documents/Codex/sportshub/docs/sportshub_usecase.pdf</a:t>
            </a:r>
          </a:p>
          <a:p xmlns:a="http://schemas.openxmlformats.org/drawingml/2006/main">
            <a:r>
              <a:t>- /Users/samsonkitigo/Documents/Codex/sportshub/docs/sportshub_architecture.pdf</a:t>
            </a:r>
          </a:p>
          <a:p xmlns:a="http://schemas.openxmlformats.org/drawingml/2006/main">
            <a:r>
              <a:t>- /Users/samsonkitigo/Documents/Codex/sportshub/docs/lab4_sequence_diagram.pdf</a:t>
            </a:r>
          </a:p>
          <a:p xmlns:a="http://schemas.openxmlformats.org/drawingml/2006/main">
            <a:r>
              <a:t>- /Users/samsonkitigo/Documents/Codex/sportshub/docs/SportsHub_Lab5.pdf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returning to the opening promise: SportsHub already demonstrates a coherent matchday experience and the design work shows how it grows responsibly.</a:t>
            </a:r>
          </a:p>
          <a:p xmlns:a="http://schemas.openxmlformats.org/drawingml/2006/main">
            <a:r>
              <a:t>Invite technical questions about architecture, authentication, persistence, provider normalization, caching, migrations, or the test strategy.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/Users/samsonkitigo/Documents/Codex/sportshub/README.md</a:t>
            </a:r>
          </a:p>
          <a:p xmlns:a="http://schemas.openxmlformats.org/drawingml/2006/main">
            <a:r>
              <a:t>- /Users/samsonkitigo/Documents/Codex/sportshub/docs/sportshub_usecase.pdf</a:t>
            </a:r>
          </a:p>
          <a:p xmlns:a="http://schemas.openxmlformats.org/drawingml/2006/main">
            <a:r>
              <a:t>- /Users/samsonkitigo/Documents/Codex/sportshub/docs/sportshub_architecture.pdf</a:t>
            </a:r>
          </a:p>
          <a:p xmlns:a="http://schemas.openxmlformats.org/drawingml/2006/main">
            <a:r>
              <a:t>- /Users/samsonkitigo/Documents/Codex/sportshub/.tmp/submission-review/screenshots/home-hero.png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72d5d6650548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3df8c3a6234589" /><Relationship Type="http://schemas.openxmlformats.org/officeDocument/2006/relationships/slideLayout" Target="/ppt/slideLayouts/slideLayout1.xml" Id="Rd5708ee2473540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708ee2473540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0bf8fe56d4d7c" /><Relationship Type="http://schemas.openxmlformats.org/officeDocument/2006/relationships/image" Target="/ppt/media/image.jpeg" Id="Rfecacec8c87d4941" /><Relationship Type="http://schemas.openxmlformats.org/officeDocument/2006/relationships/notesSlide" Target="/ppt/notesSlides/notesSlide1.xml" Id="R6832d15c39224c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43d599d464b45" /><Relationship Type="http://schemas.openxmlformats.org/officeDocument/2006/relationships/notesSlide" Target="/ppt/notesSlides/notesSlide2.xml" Id="Rd0d7bde951ec44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6ce9a2de4435f" /><Relationship Type="http://schemas.openxmlformats.org/officeDocument/2006/relationships/notesSlide" Target="/ppt/notesSlides/notesSlide3.xml" Id="R6653b68edf7e47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2b3c6b5cc4ad5" /><Relationship Type="http://schemas.openxmlformats.org/officeDocument/2006/relationships/notesSlide" Target="/ppt/notesSlides/notesSlide4.xml" Id="R5d9e008ac58240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c688e5ad44069" /><Relationship Type="http://schemas.openxmlformats.org/officeDocument/2006/relationships/notesSlide" Target="/ppt/notesSlides/notesSlide5.xml" Id="R8ef067f74ec046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4d8e10cf546fc" /><Relationship Type="http://schemas.openxmlformats.org/officeDocument/2006/relationships/notesSlide" Target="/ppt/notesSlides/notesSlide6.xml" Id="R2fef1571bd2e4c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c4da0a7ee4c58" /><Relationship Type="http://schemas.openxmlformats.org/officeDocument/2006/relationships/image" Target="/ppt/media/image.png" Id="R14cfcafcb55e4aff" /><Relationship Type="http://schemas.openxmlformats.org/officeDocument/2006/relationships/notesSlide" Target="/ppt/notesSlides/notesSlide7.xml" Id="R220b77835f8348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eb29205e04407" /><Relationship Type="http://schemas.openxmlformats.org/officeDocument/2006/relationships/image" Target="/ppt/media/image2.png" Id="R2228e16026a94a29" /><Relationship Type="http://schemas.openxmlformats.org/officeDocument/2006/relationships/notesSlide" Target="/ppt/notesSlides/notesSlide8.xml" Id="R9319173136a548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1df91f21b4e55" /><Relationship Type="http://schemas.openxmlformats.org/officeDocument/2006/relationships/image" Target="/ppt/media/image3.png" Id="Rc52d94d0d0464434" /><Relationship Type="http://schemas.openxmlformats.org/officeDocument/2006/relationships/notesSlide" Target="/ppt/notesSlides/notesSlide9.xml" Id="Rdfc35eaef6ef49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9f35163314f66" /><Relationship Type="http://schemas.openxmlformats.org/officeDocument/2006/relationships/image" Target="/ppt/media/image2.jpeg" Id="R414d9d73e3a940aa" /><Relationship Type="http://schemas.openxmlformats.org/officeDocument/2006/relationships/notesSlide" Target="/ppt/notesSlides/notesSlide10.xml" Id="R3dda57be3e2f47f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c87e5e6f64b30" /><Relationship Type="http://schemas.openxmlformats.org/officeDocument/2006/relationships/notesSlide" Target="/ppt/notesSlides/notesSlide11.xml" Id="R042f29621e2e46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f9c61309f4c62" /><Relationship Type="http://schemas.openxmlformats.org/officeDocument/2006/relationships/image" Target="/ppt/media/image3.jpeg" Id="R638fd7f6e39046c6" /><Relationship Type="http://schemas.openxmlformats.org/officeDocument/2006/relationships/notesSlide" Target="/ppt/notesSlides/notesSlide12.xml" Id="R88bc9e6bf08a471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19dcb23434f60" /><Relationship Type="http://schemas.openxmlformats.org/officeDocument/2006/relationships/notesSlide" Target="/ppt/notesSlides/notesSlide13.xml" Id="R3fd8f62a0faa4f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26dcebddb4c06" /><Relationship Type="http://schemas.openxmlformats.org/officeDocument/2006/relationships/image" Target="/ppt/media/image4.jpeg" Id="Rbe3833210b5a44d6" /><Relationship Type="http://schemas.openxmlformats.org/officeDocument/2006/relationships/notesSlide" Target="/ppt/notesSlides/notesSlide14.xml" Id="Ra140f5ff59fe4d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8F04A-B3FF-4C2E-A1AB-E766EA6C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F59EF-290B-4102-8D15-EF9D55AE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5143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 focused football</a:t>
            </a:r>
          </a:p>
          <a:p xmlns:a="http://schemas.openxmlformats.org/drawingml/2006/main">
            <a:pPr algn="l">
              <a:defRPr sz="37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matchday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BC9AB-A2D0-48E8-9570-42439AB8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CS425 project demonstration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D367F-214C-44E5-9ACF-483FD879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57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Samson Kitigo · Student ID 618666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6A5FA-37A0-4013-9E18-00F08DD0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33900"/>
            <a:ext cx="1047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9B93B-6720-4607-BDA7-DD745C6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EC5286-AF56-4A29-8146-05B2D28A3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33900"/>
            <a:ext cx="1143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C2CFD-C31D-4CC2-94C0-706BE5CE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5910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6B37E-2697-4E80-A723-396A08C9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533900"/>
            <a:ext cx="14097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CD43A-E70C-4DA6-81F8-5F1536E1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9105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CEDED-9298-4B1F-8D3E-5E1B1D99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24450"/>
            <a:ext cx="495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 working web release backed by a documented path to live updates, alerts, ticket discovery, and administration.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B7B19-BA5F-457B-A7B0-6E2E8CFA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09575"/>
            <a:ext cx="5619750" cy="56578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acec8c87d4941"/>
          <a:srcRect xmlns:a="http://schemas.openxmlformats.org/drawingml/2006/main" l="22068" t="0" r="220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7900" y="457200"/>
            <a:ext cx="5524500" cy="5562600"/>
          </a:xfrm>
          <a:prstGeom xmlns:a="http://schemas.openxmlformats.org/drawingml/2006/main" prst="roundRect">
            <a:avLst>
              <a:gd name="adj" fmla="val 2069"/>
            </a:avLst>
          </a:prstGeom>
        </p:spPr>
      </p:pic>
    </p:spTree>
    <p:extLst>
      <p:ext uri="{BB962C8B-B14F-4D97-AF65-F5344CB8AC3E}">
        <p14:creationId xmlns:p14="http://schemas.microsoft.com/office/powerpoint/2010/main" val="1294157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24C2B6-EEBD-4F39-A96C-4D61F0CF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277BA-D985-4737-8A4A-DC12683C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SportsHub connects the pieces of a fan’s matchday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74BE9-0D9E-43E0-B425-53DB504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65C22-713D-4ADE-821A-6637D2DB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4210050" cy="4457700"/>
          </a:xfrm>
          <a:prstGeom xmlns:a="http://schemas.openxmlformats.org/drawingml/2006/main" prst="roundRect">
            <a:avLst>
              <a:gd name="adj" fmla="val 3620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447AE-6E3A-417A-A3C7-ECB6FB3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Problem and purpose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86E12-AC8A-4E14-B199-0F9E8E56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390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Scores and fan tools often live in separate places.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85C28-53E9-4646-A198-3248BA8C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33147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CE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7ECE7"/>
                </a:solidFill>
                <a:latin typeface="Aptos"/>
                <a:ea typeface="Aptos"/>
                <a:cs typeface="Aptos"/>
              </a:rPr>
              <a:t>SportsHub brings the essential football journey into one responsive experience while keeping the architecture open to richer live and administrative capabilities.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62CDCC-EF32-4628-A356-54537CC7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5F907-C718-4EF5-82CD-F0F5C0BB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FOOTBALL 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508DF-99A6-4980-A82A-865535F4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58115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78FCD-8773-4474-8D7E-5D441B00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7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2F0C0-C584-4779-9BDB-D361C6D1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57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292E2-406F-445C-B20C-A5A83D32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6212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E9166-39F0-4170-8655-11676254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Browse matchdays, inspect fixtures, follow teams, and manage alert preferences.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E6450-1C4A-4A7C-994F-E1CFF802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8115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3DAF4-6D35-45E4-B333-5F722317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8758D-6FDD-42ED-B889-4A0690979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57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C9D8F-5D64-4B82-A94D-82361787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Administrators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6CAD88-34ED-4A74-952C-E9CC941B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0505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 planned portal manages featured tournaments, integrations, configuration, and operations.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3F3AEE-2DCA-460B-9815-9C457295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2430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63FC86-F45F-4729-844A-A7CC07FC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147E1-6ACF-4BD5-8181-28A5133F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00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BEED1-FB8F-4189-BCCE-01D6D0BA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052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External providers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B91DB1-E1D0-48DA-93E4-3FE7DFDF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4820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Sports data, ticket inventory, and delivery networks remain outside the SportsHub system boundary.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DFF3D5-3E18-4F97-801E-7245B166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24300"/>
            <a:ext cx="3048000" cy="20383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687B2D-B1EC-4840-AF4D-7BECD06D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14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6CBF9-2EE8-4301-9023-C053EE78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005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289539-F089-46E8-802F-7391BC20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05275"/>
            <a:ext cx="2114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Course objective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44A68-624D-461D-AFDD-EBEC71CC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48200"/>
            <a:ext cx="2628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Demonstrate requirements traceability, layered design, persistence, testing, and a working application.</a:t>
            </a:r>
          </a:p>
        </p:txBody>
      </p:sp>
    </p:spTree>
    <p:extLst>
      <p:ext uri="{BB962C8B-B14F-4D97-AF65-F5344CB8AC3E}">
        <p14:creationId xmlns:p14="http://schemas.microsoft.com/office/powerpoint/2010/main" val="747637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62AF14-3970-457B-A22F-190C1526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D790B-5F92-444C-A1EE-C06D335E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core stack favors speed, clarity, and strong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9C0EF-0665-43B4-87F6-FC572704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14A28-3A7F-4431-A338-253C8B28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70417-ED21-48B9-9B9A-87DE4050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47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C696B-4C08-4B78-AE4A-8CE74FEF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React + TypeScript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9EB32-7584-4D07-B700-79CDD7B4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Responsive client and explicit contracts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6C1B3-0B1A-4C3F-ADFC-D18D1A79C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Reusable page and form components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Client-side routing for clear fan journeys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Type checking catches API-shape mistakes early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Vite keeps local development and builds fast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FC067-5138-4A76-BF0B-CEFA0193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D7534-064E-461B-9A81-21A97714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CBBCF-69D5-473D-86BF-69E2864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FastAPI + Pydantic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14435-B183-46B1-B9EC-DC6BE1C2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3D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3D2F"/>
                </a:solidFill>
                <a:latin typeface="Aptos"/>
                <a:ea typeface="Aptos"/>
                <a:cs typeface="Aptos"/>
              </a:rPr>
              <a:t>Small API surface with built-in validation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5D048F-650A-4F21-B940-F0403972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Versioned REST endpoints and OpenAPI documentation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Typed request and response schemas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Dependency-based authentication and authorization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Straightforward unit and API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74FD5-C0E8-48DC-A870-8FE9C16F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C9D4F-EA19-4096-A685-20F0594F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7A34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44FD92-3CEA-40D1-9D40-E0FE7F16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56A5B0-5B4D-4CA3-B397-9E83BBF8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47A3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47A34"/>
                </a:solidFill>
                <a:latin typeface="Aptos"/>
                <a:ea typeface="Aptos"/>
                <a:cs typeface="Aptos"/>
              </a:rPr>
              <a:t>One repeatable environment for the full stack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0180F-3075-4AB7-B57E-C5A84A4B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Starts PostgreSQL, migrations, API, and web client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Reduces machine-specific setup differences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Preserves service boundaries without microservices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Supports a separate PostgreSQL test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7DAA1-EFB2-406D-A168-E486649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Selection principle: use mature tools that make the architecture visible without adding unnecessary operational complexity.</a:t>
            </a:r>
          </a:p>
        </p:txBody>
      </p:sp>
    </p:spTree>
    <p:extLst>
      <p:ext uri="{BB962C8B-B14F-4D97-AF65-F5344CB8AC3E}">
        <p14:creationId xmlns:p14="http://schemas.microsoft.com/office/powerpoint/2010/main" val="1540899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05B2-F306-463F-ACF9-5C807A5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D2F51-E328-46A9-AC47-41F26B9D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Persistence and integrations can evolve independently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2E5DF-580D-4858-9576-75F9206F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F9182-B692-4512-B238-3016E349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50783-10B8-48AF-98CA-DF263039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F0B-5207-4979-BC8A-322A1862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7335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Relational integrity for users, teams, preferences, and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0566E-5E97-4B86-898F-66BB8ADC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335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Transactions and constraints fit account-to-team associations and user-scoped records.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D6841-FBD6-4546-8B62-DAC7EBFA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479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FB50C-B7EA-42B2-BAA8-B030A3BF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SQLAlchemy + Alembic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9D95F-EEBC-4601-8DBF-CF2727E5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Explicit repositories plus repeatable schema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A467D-32F9-4DB5-95D1-A2CE4DDA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ORM mappings keep queries isolated while migrations make database changes reviewable.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31B9F-48A4-43C2-87F2-40F6F189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365F9-08A6-4045-9F88-DB206EC2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iSportsAPI adapter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33460C-5196-4505-B88E-3408742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671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data normalized behind a stable SportsHub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75DFB-14E6-4774-A319-9F048446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671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adapter isolates vendor fields, applies caching, and can be replaced without rewriting endpoints.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91FE1-C7B8-4BAF-A484-7CA0BF27C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11633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861D-7088-4E15-8E81-A7FC3915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Pytest + Vitest + Playwright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8E0574-F726-4DD6-8792-69A9325D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33950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Evidence from business rules through browser journeys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77A85-C29C-43A8-AD31-4E01F0FC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933950"/>
            <a:ext cx="4210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Layered tests cover normal, boundary, error, persistence, desktop, and mobile behavior.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73DB53-99CD-496B-BF49-ADACEB1B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8170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current release uses a persistent file cache for provider responses; Redis and background workers are planned target-architecture components.</a:t>
            </a:r>
          </a:p>
        </p:txBody>
      </p:sp>
    </p:spTree>
    <p:extLst>
      <p:ext uri="{BB962C8B-B14F-4D97-AF65-F5344CB8AC3E}">
        <p14:creationId xmlns:p14="http://schemas.microsoft.com/office/powerpoint/2010/main" val="1290028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18E7BF-E48C-455C-ABC2-B3418C7A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7C3277-8897-490B-A2EA-D4B1AAC5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Six use cases define the product and its next iterations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80830-67BB-417B-87A9-16D76FF7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F3B06-493E-480D-8C99-A6FD57EC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2C7AFA-C29C-4A48-8B62-A9728C7DE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BCDF0-CAC3-4E1F-AA99-374D797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64F4D-A92F-46CC-9644-C9ECFB7D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User account management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BEFF1-9BC2-493C-A09B-7DA05560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764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7A34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21DFE-3414-4BC5-81BC-D7638A65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430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FDF8B-22B8-4285-A61C-0F5860D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Registration and sign-in work now; full profile update and account deletion remain planned.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F22A6-0CB5-4082-8478-8225D75E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240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D0A75-EC13-4EA3-A5DE-40780DC2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C1101-DCF5-488C-BF54-3D8525C1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811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529D34-3845-4545-971C-2AB6ABCD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95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Manage favorite teams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77BDD-8925-465D-832C-746DC021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6764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A9B5F-AC37-49E4-A60D-E2715DAC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430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9FC2F0-593A-469D-82FF-7583FF2A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859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Search, follow, list, and remove teams through authenticated user-scoped operations.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1EFC2-EF96-4BA5-B526-160B390F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3845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47C448-7406-4A52-BE44-158F7CF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2ACA9B-85E1-4B4E-AAB3-D8DE20BD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2076D-2C23-49C5-9711-593D32A6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View live matches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5AF45-829D-42C3-8BB5-CD136FFD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9908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7A34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A6AD4-0A72-4FE8-9750-412EE99B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575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4116EC-57F6-4FC2-8F02-F3B9CBCF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04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Date and status browsing work now; independent polling and SSE updates are planned.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A13D8F-EA89-4D4E-BF92-E13C333C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3845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32512-4075-47EB-A8B9-D10E4BAE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746F6B-FF86-4003-A927-089D6D1A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956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7CB27B-8F60-4D5B-AB3E-8251BA84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99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View match details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C65E10-BC6A-4B8E-B0B1-167CE75C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9085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1C1422-3C7B-490C-8E9F-A64FA72A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5752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IMPLEMENTED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424E12-6351-4E8A-B991-55935F5D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004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Overview, statistics, lineups, and timeline are available when provider data exists.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C26504-5997-494C-83E9-82A5C460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529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F5B735-CDD8-4F7E-8194-5B784C20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5811ED-58EF-490E-9888-0A46E57F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E219A7-526E-42E8-9C5E-14A429E0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Search official tickets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1D18AB-3527-4695-9011-77F0C684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05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247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B780C4-2F3D-44E3-91C5-B48EB433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83444A-5DA7-472F-B766-73DBFC2C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Resolve fixture context, search an official provider, and redirect purchase externally.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F8D416-DC66-4483-B7EA-EA5DFC54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533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9E0CA8-763F-439C-9471-69005820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7B10C1-ECD8-4E3E-8AAE-AA73934B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100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530393-4393-4650-9554-F1A1B54D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24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Feature tournaments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AC9BA1-757E-441B-980D-59336063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053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247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01B33B-D68F-420B-8F0C-D44AAEC8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0EFBFD-16FF-488E-8F8A-B6222072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148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Administrators select, order, and remove featured competitions without deleting fixtures.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5C8259-3FB1-48F1-B92A-C59F2FC9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868582-F868-4ACB-9DB4-063AD23A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use-case descriptions record actors, preconditions, normal flows, postconditions, and business rules—not just feature names.</a:t>
            </a:r>
          </a:p>
        </p:txBody>
      </p:sp>
    </p:spTree>
    <p:extLst>
      <p:ext uri="{BB962C8B-B14F-4D97-AF65-F5344CB8AC3E}">
        <p14:creationId xmlns:p14="http://schemas.microsoft.com/office/powerpoint/2010/main" val="11427708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C137E-8ACD-4B79-8462-1B0A7A6D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ED8C6-75CC-4A7A-A118-84E1BEC9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working release completes four connected fan journeys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9AD72-36E0-46E6-97A2-79884573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8B372-E610-4BD2-B4B6-F87338A7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7BE27D-255E-4AA2-95C6-98986B9A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800F5-51B0-422E-9871-5E6B6E2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BFF36-A9B7-4DED-82D7-8F92C03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811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Matchday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3C372-5163-47F9-BACC-25BA6D5A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Browse a selected local date, filter live/half-time/full-time/scheduled games, and paginate results.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FAE631-DE00-4FB4-820F-5A3006E9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002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5062C-AF2D-4F07-9091-A916B469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79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FFB4B-0A6A-473E-95F7-B92B0817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8764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13DB5-8B09-4001-A22E-02D7E104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7811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Fixture detail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FEAF7-34A9-403D-BBE6-6479978F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241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Open overview, statistics, lineups, timeline, and a clearly labeled chat placeholder.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3902A-F4B9-4CCB-817A-8D07CA88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16EE8-34DF-4791-9245-40644782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3606C0-1EB5-4F13-9FD5-47ECBB1C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0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FEED3-2617-46BC-BB38-5C19982E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147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Team hub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D7342-C083-4131-966A-47A7EAD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Search teams, view useful profiles and recent searches, then follow or remove a team.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62469-3C8D-4EC3-A3B0-F6BE9D6B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733800"/>
            <a:ext cx="5495925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0E224F-CB57-440E-806E-6952A988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924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2C230-AFA9-4698-9F95-A2C60CE1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1002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F67EF9-C349-464C-9180-B3D71E49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914775"/>
            <a:ext cx="4562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Alert inbox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1302D8-6C8E-4657-99CF-2E69639C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457700"/>
            <a:ext cx="50768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Review persisted summaries, unread counts, preferences, individual read state, and mark-all-read.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E23F2-3123-436B-B3F4-9ED0274D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93DEAB-551F-4E98-92ED-99880F86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340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Release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420547-C1A1-4011-87CA-200708D1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92455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SSE, automated match alerts, ticketing, Redis, admin workflows, and cloud hosting are planned.</a:t>
            </a:r>
          </a:p>
        </p:txBody>
      </p:sp>
    </p:spTree>
    <p:extLst>
      <p:ext uri="{BB962C8B-B14F-4D97-AF65-F5344CB8AC3E}">
        <p14:creationId xmlns:p14="http://schemas.microsoft.com/office/powerpoint/2010/main" val="11596348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284AE1-329E-4011-8D18-41D64D9E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BEBC9-98A4-4183-826F-BCA9B528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target architecture grows from today’s layered monolith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11877-D855-4D26-B1E7-0B40C9DD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87226-988E-4E2D-9FE5-37FBD14A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14475"/>
            <a:ext cx="7048500" cy="45339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fcafcb55e4aff"/>
          <a:stretch xmlns:a="http://schemas.openxmlformats.org/drawingml/2006/main"/>
        </p:blipFill>
        <p:spPr>
          <a:xfrm xmlns:a="http://schemas.openxmlformats.org/drawingml/2006/main">
            <a:off x="1118907" y="1562100"/>
            <a:ext cx="5744135" cy="4438650"/>
          </a:xfrm>
          <a:prstGeom xmlns:a="http://schemas.openxmlformats.org/drawingml/2006/main" prst="roundRect">
            <a:avLst>
              <a:gd name="adj" fmla="val 257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AE21D-A656-4E2C-B030-B75EE7A51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62100"/>
            <a:ext cx="1714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5DFF2-1F3E-499F-897B-C7DE0AAE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62928-E49E-4854-874C-21CB7ACA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Implemented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06C7F-979E-437B-B6A0-116FA695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429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•  React web client</a:t>
            </a:r>
          </a:p>
          <a:p xmlns:a="http://schemas.openxmlformats.org/drawingml/2006/main">
            <a:pPr algn="l">
              <a:defRPr sz="1275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•  FastAPI endpoint–service–repository layers</a:t>
            </a:r>
          </a:p>
          <a:p xmlns:a="http://schemas.openxmlformats.org/drawingml/2006/main">
            <a:pPr algn="l">
              <a:defRPr sz="1275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•  PostgreSQL and Alembic</a:t>
            </a:r>
          </a:p>
          <a:p xmlns:a="http://schemas.openxmlformats.org/drawingml/2006/main">
            <a:pPr algn="l">
              <a:defRPr sz="1275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•  iSportsAPI adapter and persistent cache</a:t>
            </a:r>
          </a:p>
          <a:p xmlns:a="http://schemas.openxmlformats.org/drawingml/2006/main">
            <a:pPr algn="l">
              <a:defRPr sz="1275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•  Docker Compose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F086F-D803-4495-9830-F3FC4828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291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Planned evolution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614B3-22AB-4EF1-A32B-892896907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29150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Redis, workers, SSE, ticket and notification adapters, admin capabilities, CDN/WAF, load balancing, and cloud observability extend the same boundaries.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394C5-0C19-4F12-9039-FF42E57B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9120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7A3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47A34"/>
                </a:solidFill>
                <a:latin typeface="Aptos"/>
                <a:ea typeface="Aptos"/>
                <a:cs typeface="Aptos"/>
              </a:rPr>
              <a:t>The diagram is a target solution view; the course deployment intentionally starts smaller.</a:t>
            </a:r>
          </a:p>
        </p:txBody>
      </p:sp>
    </p:spTree>
    <p:extLst>
      <p:ext uri="{BB962C8B-B14F-4D97-AF65-F5344CB8AC3E}">
        <p14:creationId xmlns:p14="http://schemas.microsoft.com/office/powerpoint/2010/main" val="2269985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80E90E-9381-4F33-905F-52621793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A62A1-CAAF-43C5-9E12-D7D601A1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Sequence diagrams test the order of significant interactions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77370-D385-464A-89BC-E9E6377C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9CC40-E728-44E9-9EA0-CE7BD9EF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14475"/>
            <a:ext cx="725805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8e16026a94a29"/>
          <a:stretch xmlns:a="http://schemas.openxmlformats.org/drawingml/2006/main"/>
        </p:blipFill>
        <p:spPr>
          <a:xfrm xmlns:a="http://schemas.openxmlformats.org/drawingml/2006/main">
            <a:off x="1162050" y="1562100"/>
            <a:ext cx="5867400" cy="4533900"/>
          </a:xfrm>
          <a:prstGeom xmlns:a="http://schemas.openxmlformats.org/drawingml/2006/main" prst="roundRect">
            <a:avLst>
              <a:gd name="adj" fmla="val 252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40845-71C9-4D6A-BB9D-A89D384F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366DC-0F32-46A7-86E4-BD308864F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LAB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8F60F-0A71-44AF-ADCE-93340BB9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Live updates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4BD10-CCDB-4E76-9A66-49D169C2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193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background poller is independent of the fan’s SSE connection; reconnect restores a fresh snapshot.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5AF7D6-D295-43ED-99FB-ED4FD973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Team + alerts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2F352-B211-48C6-9D7E-7A9EAFC9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576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Following a team and saving global notification preferences are separate authenticated transactions.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A7A389-7593-44D7-B3A9-A965D7CF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52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Ticket discovery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AE1B9-5DB2-417B-9D3E-77408E99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8958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SportsHub resolves and redirects to an official provider without processing payment or fulfillment.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884458-09BB-4B85-AD05-569389A8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531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Boundary, control, and entity stereotypes make each responsibility explicit.</a:t>
            </a:r>
          </a:p>
        </p:txBody>
      </p:sp>
    </p:spTree>
    <p:extLst>
      <p:ext uri="{BB962C8B-B14F-4D97-AF65-F5344CB8AC3E}">
        <p14:creationId xmlns:p14="http://schemas.microsoft.com/office/powerpoint/2010/main" val="13890181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41965-14CF-4E03-81BB-1D5F3EE3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65F15-8617-43BD-A4C8-34C7BFAC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Collaboration and VOPC views assign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78BF1-7DC1-467C-BB35-616161D9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ACF44-D72B-476F-850B-A0698E3C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14475"/>
            <a:ext cx="725805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d94d0d0464434"/>
          <a:stretch xmlns:a="http://schemas.openxmlformats.org/drawingml/2006/main"/>
        </p:blipFill>
        <p:spPr>
          <a:xfrm xmlns:a="http://schemas.openxmlformats.org/drawingml/2006/main">
            <a:off x="1162050" y="1562100"/>
            <a:ext cx="5867400" cy="4533900"/>
          </a:xfrm>
          <a:prstGeom xmlns:a="http://schemas.openxmlformats.org/drawingml/2006/main" prst="roundRect">
            <a:avLst>
              <a:gd name="adj" fmla="val 252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3EF272-C40C-497A-9E0F-14646EDE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62100"/>
            <a:ext cx="12001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D490F1-51BD-4D44-A31F-112C8A4C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LAB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CAF265-3EB9-409F-AE51-CEC9934E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14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Collaboration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BBF5F-710A-4D88-A3F1-CAAE45F6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7650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Numbered messages emphasize which objects cooperate to complete a use case.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6564D-AB3D-4F64-AED5-A2A93608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VOPC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453B8-7EF5-4446-AA14-3C303C73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Participating boundary, control, and entity classes show associations, ownership, and stored records.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D34EA-04D1-4BD8-AA15-03F2D7D1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43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97A03-2EF2-4EF8-B985-9311096F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054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The diagrams reveal missing responsibilities early and distinguish planned classes from those already implemented.</a:t>
            </a:r>
          </a:p>
        </p:txBody>
      </p:sp>
    </p:spTree>
    <p:extLst>
      <p:ext uri="{BB962C8B-B14F-4D97-AF65-F5344CB8AC3E}">
        <p14:creationId xmlns:p14="http://schemas.microsoft.com/office/powerpoint/2010/main" val="692015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0EA31C-82BC-4EFB-BD49-A0296150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A8AF70-D27B-45AC-85C0-26F7B2FC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Security and persistence are enforced behind the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BBA25-C588-403D-8429-49F44929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AC2CB-87EC-4AE8-A166-8F86C1A1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2647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5BE31-EAE1-4F39-BF2B-1B7D67B9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45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SECURITY + DATA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9C9FE-B85F-4E6F-BEFC-7F12107D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4CC50-A605-49B1-B0C5-AF524778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Passwords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FD2EF-AEF5-46B8-8538-F78324C1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14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BCrypt hashes are stored instead of plaintext credentials.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052E0-282D-4C5F-B08C-96342164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B490C-CFD8-461F-B243-89B692B4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Bearer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4FCCF-2575-4D57-9110-0E306F36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8194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Signed, expiring JWTs are validated for protected requests.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DBF5B-951E-4DB0-A8EB-8F6B2D1D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9E5495-DAB7-4D34-A99A-24CB4ADD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Current 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15134B-EC97-4702-B78E-14A326AE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242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API derives identity from the token; the browser never supplies userId.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ED5E3-2263-4512-BFF6-A9DF7882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1E4FC-2C9D-4405-9B5B-4C37D184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Repositories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2486A-F98C-42A1-8B3B-D5D3E39E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291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SQLAlchemy persistence operations stay outside endpoint and service code.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2EEC3-7E67-4BA0-AB9E-25278C5A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7CAC9B-6941-4206-9DFE-4D3A30AD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Migrations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6028C-04C8-424A-BCA3-9B09C7AE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339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Alembic creates repeatable, reviewable PostgreSQL schema changes.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04613-A28C-4358-A27B-DA074D7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0"/>
            <a:ext cx="52959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1B33DA-DEEE-4F2C-84D5-6096DCB4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Secrets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56557-3663-4472-B011-33560B54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388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11B"/>
                </a:solidFill>
                <a:latin typeface="Aptos"/>
                <a:ea typeface="Aptos"/>
                <a:cs typeface="Aptos"/>
              </a:rPr>
              <a:t>Provider keys and signing secrets remain in ignored runtime configuration.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3F55E-2787-4622-88AA-801C5F8E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438275"/>
            <a:ext cx="5448300" cy="430530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d9d73e3a940aa"/>
          <a:srcRect xmlns:a="http://schemas.openxmlformats.org/drawingml/2006/main" l="10266" t="0" r="102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29350" y="1485900"/>
            <a:ext cx="535305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607966-42E1-46E8-AC0B-3F131949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810250"/>
            <a:ext cx="53530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5187CE-34A7-4EC0-93F9-A9637AA1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24550"/>
            <a:ext cx="501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is enforced by the API—not by hiding links.</a:t>
            </a:r>
          </a:p>
        </p:txBody>
      </p:sp>
    </p:spTree>
    <p:extLst>
      <p:ext uri="{BB962C8B-B14F-4D97-AF65-F5344CB8AC3E}">
        <p14:creationId xmlns:p14="http://schemas.microsoft.com/office/powerpoint/2010/main" val="3697798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135C7-4E81-4690-A95B-F0A56C8C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957F1-CFEE-4208-8C9E-02279674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Automated evidence covers behavior at every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C5C0F-4978-4A63-8378-F9819008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403D3-6E90-4A02-B202-D83493B2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70236-675C-4426-AE9D-A4B6956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5E26A-18C4-4EEC-9884-2DE7E5C7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backend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5E3B1-3794-4B6E-889B-E5EF7E0F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pytest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169DA-0120-4CCE-B8C4-96CF4D11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002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DCE82-8BD0-4449-A678-802DFEC8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38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F6867-FAF6-49ED-AD08-3F0DAEF1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57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frontend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1E6E0-943A-4327-85E3-065D712E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67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Vitest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224DD-92FF-408A-A634-DF8C21ED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002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3279C-B8F8-4901-A7BF-5F65AFA2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38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2F58C-B7B7-4761-84B8-9E2D1A0B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browser projects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75108-4A91-47CE-B270-36A2A040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67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Playwright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E8B0E-1E68-425A-A2A4-DA208149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00200"/>
            <a:ext cx="2571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6F3E8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54F859-8571-4D69-B6EC-C1D70A0C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38325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BDDD48-C365-4275-8FC3-5A8A608F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574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PostgreSQL tests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43AF8A-A2CF-4455-A905-BC40A41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67025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Docker profile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1367D1-E4BC-42FA-8A01-4CF6F085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116330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08A20-1D9C-4B08-A3DD-3C7FADBC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Controller and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7FE20-228A-485A-AEF9-48229A70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004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Authentication, validation, status codes, matchday filtering, and fixture details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17F7D7-C8B9-4ECB-8E0B-21B26A40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24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66"/>
          </a:solidFill>
          <a:ln xmlns:a="http://schemas.openxmlformats.org/drawingml/2006/main" w="0">
            <a:solidFill>
              <a:srgbClr val="5271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F3E9A9-8132-48C8-9379-5A2A60A3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Service and repository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0B1ADB-F899-44B0-A29E-0FE31545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957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Preference rules, alert state, database queries, transactions, and error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A033F-9F34-46CA-86AE-4A555EB6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66"/>
          </a:solidFill>
          <a:ln xmlns:a="http://schemas.openxmlformats.org/drawingml/2006/main" w="0">
            <a:solidFill>
              <a:srgbClr val="5271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50FF27-66FD-4E66-83B7-85359A20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Provider boundary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89F2BA-C61F-4557-AB3D-086111ED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910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iSportsAPI normalization, caching, fallback host, optional detail data, and failures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7A441C-A448-4E2D-B8A2-614A52DD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39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7166"/>
          </a:solidFill>
          <a:ln xmlns:a="http://schemas.openxmlformats.org/drawingml/2006/main" w="0">
            <a:solidFill>
              <a:srgbClr val="5271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C511BE-F4B2-4E11-8CB7-65041632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A6F5F7-0A65-44FB-BB34-765C7832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86375"/>
            <a:ext cx="796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Desktop and mobile journeys through matchday, fixture tabs, and team exploration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4AF1D9-F5F0-489F-95F0-7145ECEC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Last verified locally · August 25, 2026</a:t>
            </a:r>
          </a:p>
        </p:txBody>
      </p:sp>
    </p:spTree>
    <p:extLst>
      <p:ext uri="{BB962C8B-B14F-4D97-AF65-F5344CB8AC3E}">
        <p14:creationId xmlns:p14="http://schemas.microsoft.com/office/powerpoint/2010/main" val="18393233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0EB536-9DA8-46F9-B73F-539530C0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4B53F-BC5A-4FA8-959B-460F9306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demo follows one fan from discovery to personalization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B9FB8-0F2D-4CC9-87C4-AD666CCE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63076-F6E3-401C-AA5B-C54953CA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3810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C9"/>
          </a:solidFill>
          <a:ln xmlns:a="http://schemas.openxmlformats.org/drawingml/2006/main" w="0">
            <a:solidFill>
              <a:srgbClr val="C7D0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71A8C9-38E6-4695-B48E-A79109CA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36A96-8205-4C3F-8340-9EF11298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430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19290-73A3-41D9-91D8-6B7BB4CE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Browse the matchday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00C54-5884-41FE-84B4-018778EF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Choose a date and open a fixture.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F1982-43B6-49DC-8AE2-15A82EC0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E3FC25-7EBD-46A7-929B-F980006B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95831-A9A8-4A45-A6EF-EE08BCA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050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Inspect the fixture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AEE56-19E0-442F-AFED-37DE09AA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7908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Show statistics, lineups, timeline, and the chat boundary.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F49136-EADC-431D-BA84-995A9184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F35B"/>
          </a:solidFill>
          <a:ln xmlns:a="http://schemas.openxmlformats.org/drawingml/2006/main" w="0">
            <a:solidFill>
              <a:srgbClr val="D9F3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2B080-2CDE-448F-B5E7-0D60277F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4D8F8-E2C8-40C1-9707-41BE0C31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432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Explore a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EECBD-A29D-4E8E-9C90-FF253297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290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Search, open a profile, and revisit a recent search.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F76F7-6BC4-4592-972B-6EDF91B2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36698-EA11-457F-AD5D-BF7BBA0F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14111-84F5-4FE7-98D8-B016627C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814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Build My Hub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86A9CE-9C4C-4408-B43D-4DC3B546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672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Register, follow the team, then remove 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6F229-460C-479D-B3DA-932F0D54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223F5-B03B-4D76-AA1C-7B0C1360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FFA81-1CF0-419A-A978-205B8069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196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Clear the alerts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43E1B-D626-4F4C-9B5E-8CB85C11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05425"/>
            <a:ext cx="3314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Read one item and mark the rest as read.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0650D-AC39-474A-B2CF-1612053B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28775"/>
            <a:ext cx="6534150" cy="4324350"/>
          </a:xfrm>
          <a:prstGeom xmlns:a="http://schemas.openxmlformats.org/drawingml/2006/main" prst="roundRect">
            <a:avLst>
              <a:gd name="adj" fmla="val 3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fd7f6e39046c6"/>
          <a:srcRect xmlns:a="http://schemas.openxmlformats.org/drawingml/2006/main" l="2421" t="0" r="24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676400"/>
            <a:ext cx="6438900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2CBE31-E3FE-47C4-AD68-62F1754F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15050"/>
            <a:ext cx="643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If live provider data is unavailable, continue with the sample provider and local account, hub, and alert flows.</a:t>
            </a:r>
          </a:p>
        </p:txBody>
      </p:sp>
    </p:spTree>
    <p:extLst>
      <p:ext uri="{BB962C8B-B14F-4D97-AF65-F5344CB8AC3E}">
        <p14:creationId xmlns:p14="http://schemas.microsoft.com/office/powerpoint/2010/main" val="19501916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ECFF9D-2764-4F53-AB38-FBAFE66D3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7B871-2EB2-46D2-8201-FB583808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"/>
            <a:ext cx="1104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The roadmap extends the same architectural boundaries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7F8D8-7470-47BC-A9CE-F724DD5C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6A6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D74FF-E967-4CAA-89E2-96AD3CE8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B4C04-3D62-4B50-B1D5-0EE619C9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247"/>
          </a:solidFill>
          <a:ln xmlns:a="http://schemas.openxmlformats.org/drawingml/2006/main" w="0">
            <a:solidFill>
              <a:srgbClr val="17624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85C38-77A4-4F00-9D44-AD7C9F6B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Next product iteration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DE2D6-4172-4302-9938-CF95F357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Complete the documented web use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838A9-480A-44BD-928C-2CA45B6C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Profile update and account deletion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Scheduled pre-match, kickoff, score, and full-time alerts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Official ticket search and safe external redirect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Featured-tournament administration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B7C1F-155E-4914-8F09-2C71C6E2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A5D68-1B63-4E09-B221-5C10D68C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7A34"/>
          </a:solidFill>
          <a:ln xmlns:a="http://schemas.openxmlformats.org/drawingml/2006/main" w="0">
            <a:solidFill>
              <a:srgbClr val="D47A3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8F74D-16B7-4151-A852-C3BF708D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Target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CB747-C31A-44DD-8896-9E8F472B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47A3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47A34"/>
                </a:solidFill>
                <a:latin typeface="Aptos"/>
                <a:ea typeface="Aptos"/>
                <a:cs typeface="Aptos"/>
              </a:rPr>
              <a:t>Support realtime and operational growth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AC01B-8311-427D-982A-80D4B3FD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Independent fixture poller and browser SSE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Redis for shared cache and realtime state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Background workers and reliable delivery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Cloud edge, scaling, monitoring, backup, and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B4D2E-BDE0-4AA6-886A-029FFDAB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3943350"/>
          </a:xfrm>
          <a:prstGeom xmlns:a="http://schemas.openxmlformats.org/drawingml/2006/main" prst="roundRect">
            <a:avLst>
              <a:gd name="adj" fmla="val 33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253542-99DA-4574-A50E-F1DA9158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14500"/>
            <a:ext cx="3448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3D2F"/>
          </a:solidFill>
          <a:ln xmlns:a="http://schemas.openxmlformats.org/drawingml/2006/main" w="0">
            <a:solidFill>
              <a:srgbClr val="103D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355B1-4E6C-4D4F-A878-6130B1CB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11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211B"/>
                </a:solidFill>
                <a:latin typeface="Aptos"/>
                <a:ea typeface="Aptos"/>
                <a:cs typeface="Aptos"/>
              </a:rPr>
              <a:t>Explicit later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9ED2E1-6ED9-43ED-9452-E66F0856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2990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3D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3D2F"/>
                </a:solidFill>
                <a:latin typeface="Aptos"/>
                <a:ea typeface="Aptos"/>
                <a:cs typeface="Aptos"/>
              </a:rPr>
              <a:t>Ideas intentionally outside the initial platform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39C8F-DB73-4DB0-A02E-1CF7C4FF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62300"/>
            <a:ext cx="29908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Native Android and iOS applications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AI predictions and recommendations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Social communities and in-app messaging</a:t>
            </a:r>
          </a:p>
          <a:p xmlns:a="http://schemas.openxmlformats.org/drawingml/2006/main">
            <a:pPr algn="l">
              <a:defRPr sz="1350" b="0">
                <a:solidFill>
                  <a:srgbClr val="5D6A6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D6A64"/>
                </a:solidFill>
                <a:latin typeface="Aptos"/>
                <a:ea typeface="Aptos"/>
                <a:cs typeface="Aptos"/>
              </a:rPr>
              <a:t>•  Merchandise and premium subscriptions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9D2309-9A3F-4527-8FE0-D586CB84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624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6247"/>
                </a:solidFill>
                <a:latin typeface="Aptos"/>
                <a:ea typeface="Aptos"/>
                <a:cs typeface="Aptos"/>
              </a:rPr>
              <a:t>Scope discipline protects the working release while the architecture keeps future capabilities feasible.</a:t>
            </a:r>
          </a:p>
        </p:txBody>
      </p:sp>
    </p:spTree>
    <p:extLst>
      <p:ext uri="{BB962C8B-B14F-4D97-AF65-F5344CB8AC3E}">
        <p14:creationId xmlns:p14="http://schemas.microsoft.com/office/powerpoint/2010/main" val="14904403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3D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3360F-586B-43E7-94A5-DAECB57B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SPORTSHUB · CS425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67920-C967-473F-A8CF-187BA548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6191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working foundation for a broader sports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73395-C01D-4CB2-864C-DA3D7427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289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Working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ACD30-8A6A-49EC-8B52-F58959F7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46482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C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CE7"/>
                </a:solidFill>
                <a:latin typeface="Aptos"/>
                <a:ea typeface="Aptos"/>
                <a:cs typeface="Aptos"/>
              </a:rPr>
              <a:t>A tested football workflow for matchdays, fixture detail, team personalization, authentication, and alerts.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32493-09E9-46CE-AADD-DD2BAB47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Designed next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B2D4B-C493-45FF-98A1-7F26700A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4648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E7ECE7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E7ECE7"/>
                </a:solidFill>
                <a:latin typeface="Aptos"/>
                <a:ea typeface="Aptos"/>
                <a:cs typeface="Aptos"/>
              </a:rPr>
              <a:t>Realtime updates, automated notifications, official tickets, featured tournaments, and scalable infrastructure.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308F3-57E9-4613-896A-DFD87B3F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The constant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32F0A-FF78-4BA6-8B3D-54E94A6D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29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Stable boundaries keep the product understandable as it grows.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D8F11-FC35-481C-BEFA-AAF9F545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619125"/>
            <a:ext cx="4343400" cy="53149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833210b5a44d6"/>
          <a:srcRect xmlns:a="http://schemas.openxmlformats.org/drawingml/2006/main" l="27110" t="0" r="27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666750"/>
            <a:ext cx="4248150" cy="5219700"/>
          </a:xfrm>
          <a:prstGeom xmlns:a="http://schemas.openxmlformats.org/drawingml/2006/main" prst="roundRect">
            <a:avLst>
              <a:gd name="adj" fmla="val 269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AC347-0F36-4FA1-88C5-AB7E3631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2103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9F3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F35B"/>
                </a:solidFill>
                <a:latin typeface="Aptos"/>
                <a:ea typeface="Aptos"/>
                <a:cs typeface="Apto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410658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2026-08-25T05:17:43.0190000Z</dcterms:created>
  <dcterms:modified xsi:type="dcterms:W3CDTF">2026-08-25T05:17:43.0190000Z</dcterms:modified>
</coreProperties>
</file>