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ca4e39dbac4844" /><Relationship Type="http://schemas.openxmlformats.org/officeDocument/2006/relationships/extended-properties" Target="/docProps/app.xml" Id="R13778a0bf6b148ae" /><Relationship Type="http://schemas.openxmlformats.org/officeDocument/2006/relationships/officeDocument" Target="/ppt/presentation.xml" Id="R423b693184aa40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3084eda3ce4f2a"/>
  </p:sldMasterIdLst>
  <p:notesMasterIdLst>
    <p:notesMasterId xmlns:r="http://schemas.openxmlformats.org/officeDocument/2006/relationships" r:id="R0e43afdcfbbb4955"/>
  </p:notesMasterIdLst>
  <p:sldIdLst>
    <p:sldId xmlns:r="http://schemas.openxmlformats.org/officeDocument/2006/relationships" id="256" r:id="R3dd08d5bce63435e"/>
    <p:sldId xmlns:r="http://schemas.openxmlformats.org/officeDocument/2006/relationships" id="257" r:id="R15c0ba0083894cb8"/>
    <p:sldId xmlns:r="http://schemas.openxmlformats.org/officeDocument/2006/relationships" id="258" r:id="R769f066013c74b09"/>
    <p:sldId xmlns:r="http://schemas.openxmlformats.org/officeDocument/2006/relationships" id="259" r:id="Rbb63326dabc84f75"/>
    <p:sldId xmlns:r="http://schemas.openxmlformats.org/officeDocument/2006/relationships" id="260" r:id="Re100173f76224abd"/>
    <p:sldId xmlns:r="http://schemas.openxmlformats.org/officeDocument/2006/relationships" id="261" r:id="Rf4e788cbab5c4f8b"/>
    <p:sldId xmlns:r="http://schemas.openxmlformats.org/officeDocument/2006/relationships" id="262" r:id="R864ca8ed51cd4d95"/>
    <p:sldId xmlns:r="http://schemas.openxmlformats.org/officeDocument/2006/relationships" id="263" r:id="R1ab67f50c40f4ceb"/>
    <p:sldId xmlns:r="http://schemas.openxmlformats.org/officeDocument/2006/relationships" id="264" r:id="Rcd79ee90e9404e64"/>
    <p:sldId xmlns:r="http://schemas.openxmlformats.org/officeDocument/2006/relationships" id="265" r:id="R7924f8c5309e498a"/>
    <p:sldId xmlns:r="http://schemas.openxmlformats.org/officeDocument/2006/relationships" id="266" r:id="R423d1ad362b54394"/>
    <p:sldId xmlns:r="http://schemas.openxmlformats.org/officeDocument/2006/relationships" id="267" r:id="R48bd718d8b6c4787"/>
    <p:sldId xmlns:r="http://schemas.openxmlformats.org/officeDocument/2006/relationships" id="268" r:id="Rde6b4a9e9c954a97"/>
    <p:sldId xmlns:r="http://schemas.openxmlformats.org/officeDocument/2006/relationships" id="269" r:id="Rd2d2fcaccec24cd7"/>
    <p:sldId xmlns:r="http://schemas.openxmlformats.org/officeDocument/2006/relationships" id="270" r:id="R21ce636e06f548f7"/>
    <p:sldId xmlns:r="http://schemas.openxmlformats.org/officeDocument/2006/relationships" id="271" r:id="R4a0b44b4f81c4618"/>
    <p:sldId xmlns:r="http://schemas.openxmlformats.org/officeDocument/2006/relationships" id="272" r:id="R3732fe3a28ce4d8f"/>
    <p:sldId xmlns:r="http://schemas.openxmlformats.org/officeDocument/2006/relationships" id="273" r:id="Rdbaca006d5dd4c50"/>
    <p:sldId xmlns:r="http://schemas.openxmlformats.org/officeDocument/2006/relationships" id="274" r:id="Rba76f01e8ea74aaa"/>
    <p:sldId xmlns:r="http://schemas.openxmlformats.org/officeDocument/2006/relationships" id="275" r:id="R6f087d39761a4e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c7e3cf955743ae" /><Relationship Type="http://schemas.openxmlformats.org/officeDocument/2006/relationships/slideMaster" Target="/ppt/slideMasters/slideMaster1.xml" Id="Rf53084eda3ce4f2a" /><Relationship Type="http://schemas.openxmlformats.org/officeDocument/2006/relationships/notesMaster" Target="/ppt/notesMasters/notesMaster1.xml" Id="R0e43afdcfbbb4955" /><Relationship Type="http://schemas.openxmlformats.org/officeDocument/2006/relationships/presProps" Target="/ppt/presProps.xml" Id="R330c298ef7334d0c" /><Relationship Type="http://schemas.openxmlformats.org/officeDocument/2006/relationships/tableStyles" Target="/ppt/tableStyles.xml" Id="R126bdf9d76ee47be" /><Relationship Type="http://schemas.openxmlformats.org/officeDocument/2006/relationships/slide" Target="/ppt/slides/slide1.xml" Id="R3dd08d5bce63435e" /><Relationship Type="http://schemas.openxmlformats.org/officeDocument/2006/relationships/slide" Target="/ppt/slides/slide2.xml" Id="R15c0ba0083894cb8" /><Relationship Type="http://schemas.openxmlformats.org/officeDocument/2006/relationships/slide" Target="/ppt/slides/slide3.xml" Id="R769f066013c74b09" /><Relationship Type="http://schemas.openxmlformats.org/officeDocument/2006/relationships/slide" Target="/ppt/slides/slide4.xml" Id="Rbb63326dabc84f75" /><Relationship Type="http://schemas.openxmlformats.org/officeDocument/2006/relationships/slide" Target="/ppt/slides/slide5.xml" Id="Re100173f76224abd" /><Relationship Type="http://schemas.openxmlformats.org/officeDocument/2006/relationships/slide" Target="/ppt/slides/slide6.xml" Id="Rf4e788cbab5c4f8b" /><Relationship Type="http://schemas.openxmlformats.org/officeDocument/2006/relationships/slide" Target="/ppt/slides/slide7.xml" Id="R864ca8ed51cd4d95" /><Relationship Type="http://schemas.openxmlformats.org/officeDocument/2006/relationships/slide" Target="/ppt/slides/slide8.xml" Id="R1ab67f50c40f4ceb" /><Relationship Type="http://schemas.openxmlformats.org/officeDocument/2006/relationships/slide" Target="/ppt/slides/slide9.xml" Id="Rcd79ee90e9404e64" /><Relationship Type="http://schemas.openxmlformats.org/officeDocument/2006/relationships/slide" Target="/ppt/slides/slide10.xml" Id="R7924f8c5309e498a" /><Relationship Type="http://schemas.openxmlformats.org/officeDocument/2006/relationships/slide" Target="/ppt/slides/slide11.xml" Id="R423d1ad362b54394" /><Relationship Type="http://schemas.openxmlformats.org/officeDocument/2006/relationships/slide" Target="/ppt/slides/slide12.xml" Id="R48bd718d8b6c4787" /><Relationship Type="http://schemas.openxmlformats.org/officeDocument/2006/relationships/slide" Target="/ppt/slides/slide13.xml" Id="Rde6b4a9e9c954a97" /><Relationship Type="http://schemas.openxmlformats.org/officeDocument/2006/relationships/slide" Target="/ppt/slides/slide14.xml" Id="Rd2d2fcaccec24cd7" /><Relationship Type="http://schemas.openxmlformats.org/officeDocument/2006/relationships/slide" Target="/ppt/slides/slide15.xml" Id="R21ce636e06f548f7" /><Relationship Type="http://schemas.openxmlformats.org/officeDocument/2006/relationships/slide" Target="/ppt/slides/slide16.xml" Id="R4a0b44b4f81c4618" /><Relationship Type="http://schemas.openxmlformats.org/officeDocument/2006/relationships/slide" Target="/ppt/slides/slide17.xml" Id="R3732fe3a28ce4d8f" /><Relationship Type="http://schemas.openxmlformats.org/officeDocument/2006/relationships/slide" Target="/ppt/slides/slide18.xml" Id="Rdbaca006d5dd4c50" /><Relationship Type="http://schemas.openxmlformats.org/officeDocument/2006/relationships/slide" Target="/ppt/slides/slide19.xml" Id="Rba76f01e8ea74aaa" /><Relationship Type="http://schemas.openxmlformats.org/officeDocument/2006/relationships/slide" Target="/ppt/slides/slide20.xml" Id="R6f087d39761a4e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2daa58a10541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2bc9082d0e48ac" /><Relationship Type="http://schemas.openxmlformats.org/officeDocument/2006/relationships/notesMaster" Target="/ppt/notesMasters/notesMaster1.xml" Id="Rd7b1ea5dc54347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a322ce6b574226" /><Relationship Type="http://schemas.openxmlformats.org/officeDocument/2006/relationships/notesMaster" Target="/ppt/notesMasters/notesMaster1.xml" Id="R29cdfc9b5b474e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0669fb9a694c5e" /><Relationship Type="http://schemas.openxmlformats.org/officeDocument/2006/relationships/notesMaster" Target="/ppt/notesMasters/notesMaster1.xml" Id="R75899998d08f46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cb1c44e7e9447b" /><Relationship Type="http://schemas.openxmlformats.org/officeDocument/2006/relationships/notesMaster" Target="/ppt/notesMasters/notesMaster1.xml" Id="R530cb32607b341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d69304653e4d14" /><Relationship Type="http://schemas.openxmlformats.org/officeDocument/2006/relationships/notesMaster" Target="/ppt/notesMasters/notesMaster1.xml" Id="R303656248e6b40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1850e091f94702" /><Relationship Type="http://schemas.openxmlformats.org/officeDocument/2006/relationships/notesMaster" Target="/ppt/notesMasters/notesMaster1.xml" Id="R60f0bb3d3bd24b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429147e8d74112" /><Relationship Type="http://schemas.openxmlformats.org/officeDocument/2006/relationships/notesMaster" Target="/ppt/notesMasters/notesMaster1.xml" Id="R50850b5eaef941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b06267dd70446a" /><Relationship Type="http://schemas.openxmlformats.org/officeDocument/2006/relationships/notesMaster" Target="/ppt/notesMasters/notesMaster1.xml" Id="R3f7192b084d846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c28dc1bcd0450e" /><Relationship Type="http://schemas.openxmlformats.org/officeDocument/2006/relationships/notesMaster" Target="/ppt/notesMasters/notesMaster1.xml" Id="Rc8cc8115b73e47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63fee2875a4fcc" /><Relationship Type="http://schemas.openxmlformats.org/officeDocument/2006/relationships/notesMaster" Target="/ppt/notesMasters/notesMaster1.xml" Id="R784dfa3db79b47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9c2ceebb8a4b2a" /><Relationship Type="http://schemas.openxmlformats.org/officeDocument/2006/relationships/notesMaster" Target="/ppt/notesMasters/notesMaster1.xml" Id="R5b148642b06841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537be430e44d5e" /><Relationship Type="http://schemas.openxmlformats.org/officeDocument/2006/relationships/notesMaster" Target="/ppt/notesMasters/notesMaster1.xml" Id="Rb02f8252e22d43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8fa59d8e2e413b" /><Relationship Type="http://schemas.openxmlformats.org/officeDocument/2006/relationships/notesMaster" Target="/ppt/notesMasters/notesMaster1.xml" Id="R4e4df39d2cea40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21202030cb41da" /><Relationship Type="http://schemas.openxmlformats.org/officeDocument/2006/relationships/notesMaster" Target="/ppt/notesMasters/notesMaster1.xml" Id="R3395928f67594c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35393879434927" /><Relationship Type="http://schemas.openxmlformats.org/officeDocument/2006/relationships/notesMaster" Target="/ppt/notesMasters/notesMaster1.xml" Id="R25131cb6e4d442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cc0cec7daa47a3" /><Relationship Type="http://schemas.openxmlformats.org/officeDocument/2006/relationships/notesMaster" Target="/ppt/notesMasters/notesMaster1.xml" Id="Rbe1f96876ca941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a54320c32db43ef" /><Relationship Type="http://schemas.openxmlformats.org/officeDocument/2006/relationships/notesMaster" Target="/ppt/notesMasters/notesMaster1.xml" Id="R351f670d06704a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7177eb05534552" /><Relationship Type="http://schemas.openxmlformats.org/officeDocument/2006/relationships/notesMaster" Target="/ppt/notesMasters/notesMaster1.xml" Id="Rd2eab5d1c3f24ca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a4543d1fcdd4398" /><Relationship Type="http://schemas.openxmlformats.org/officeDocument/2006/relationships/notesMaster" Target="/ppt/notesMasters/notesMaster1.xml" Id="R031675d1d9784e4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e07af9ef8e4f26" /><Relationship Type="http://schemas.openxmlformats.org/officeDocument/2006/relationships/notesMaster" Target="/ppt/notesMasters/notesMaster1.xml" Id="R474ec90a0ecb41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SportsHub as a football-first fan platform and immediately distinguish the working course release from its documented evolution.</a:t>
            </a:r>
          </a:p>
          <a:p xmlns:a="http://schemas.openxmlformats.org/drawingml/2006/main">
            <a:r>
              <a:t>The presentation moves from the problem and technology choices to requirements, implementation, UML evidence, testing, demonstration, and roadmap.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- /Users/samsonkitigo/Documents/Codex/sportshub/.tmp/submission-review/screenshots/home-desktop.png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product in stakeholder terms before discussing features.</a:t>
            </a:r>
          </a:p>
          <a:p xmlns:a="http://schemas.openxmlformats.org/drawingml/2006/main">
            <a:r>
              <a:t>SportsHub owns accounts, preferences, internal associations, alert records, and normalized application behavior; external systems remain authoritative for sports and ticket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/Users/samsonkitigo/Documents/Codex/sportshub/docs/sportshub_usecase.pdf</a:t>
            </a:r>
          </a:p>
          <a:p xmlns:a="http://schemas.openxmlformats.org/drawingml/2006/main">
            <a:r>
              <a:t>- /Users/samsonkitigo/Documents/Codex/sportshub/docs/sportshub_architecture.pdf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why each technology was selected, not only what it is.</a:t>
            </a:r>
          </a:p>
          <a:p xmlns:a="http://schemas.openxmlformats.org/drawingml/2006/main">
            <a:r>
              <a:t>React and FastAPI create a clean browser-to-API boundary; TypeScript and Pydantic validate both sides; Docker makes the demonstration reproducible.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/Users/samsonkitigo/Documents/Codex/sportshub/sportshub-frontend/package.json</a:t>
            </a:r>
          </a:p>
          <a:p xmlns:a="http://schemas.openxmlformats.org/drawingml/2006/main">
            <a:r>
              <a:t>- /Users/samsonkitigo/Documents/Codex/sportshub/sportshub-backend/requirements.txt</a:t>
            </a:r>
          </a:p>
          <a:p xmlns:a="http://schemas.openxmlformats.org/drawingml/2006/main">
            <a:r>
              <a:t>- /Users/samsonkitigo/Documents/Codex/sportshub/compose.yaml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technology selection to requirements: relational persistence, provider replaceability, quota-conscious caching, and test evidence.</a:t>
            </a:r>
          </a:p>
          <a:p xmlns:a="http://schemas.openxmlformats.org/drawingml/2006/main">
            <a:r>
              <a:t>Redis and workers belong to the documented next architecture, not the current Docker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/Users/samsonkitigo/Documents/Codex/sportshub/sportshub-backend/app/repositories</a:t>
            </a:r>
          </a:p>
          <a:p xmlns:a="http://schemas.openxmlformats.org/drawingml/2006/main">
            <a:r>
              <a:t>- /Users/samsonkitigo/Documents/Codex/sportshub/sportshub-backend/app/integrations/isports.py</a:t>
            </a:r>
          </a:p>
          <a:p xmlns:a="http://schemas.openxmlformats.org/drawingml/2006/main">
            <a:r>
              <a:t>- /Users/samsonkitigo/Documents/Codex/sportshub/sportshub-backend/alembic</a:t>
            </a:r>
          </a:p>
          <a:p xmlns:a="http://schemas.openxmlformats.org/drawingml/2006/main">
            <a:r>
              <a:t>- /Users/samsonkitigo/Documents/Codex/sportshub/docs/TEST_PLAN.md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status deliberately. The documents define the whole intended product; the labels show what the current executable release supports.</a:t>
            </a:r>
          </a:p>
          <a:p xmlns:a="http://schemas.openxmlformats.org/drawingml/2006/main">
            <a:r>
              <a:t>Ticket purchasing remains outside SportsHub, and removing a featured tournament never deletes the competition or its fixtures.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/Users/samsonkitigo/Documents/Codex/sportshub/docs/sportshub_usecase.pdf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technology selection to requirements: relational persistence, provider replaceability, quota-conscious caching, and test evidence.</a:t>
            </a:r>
          </a:p>
          <a:p xmlns:a="http://schemas.openxmlformats.org/drawingml/2006/main">
            <a:r>
              <a:t>Redis and workers belong to the documented next architecture, not the current Docker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/Users/samsonkitigo/Documents/Codex/sportshub/sportshub-backend/app/repositories</a:t>
            </a:r>
          </a:p>
          <a:p xmlns:a="http://schemas.openxmlformats.org/drawingml/2006/main">
            <a:r>
              <a:t>- /Users/samsonkitigo/Documents/Codex/sportshub/sportshub-backend/app/integrations/isports.py</a:t>
            </a:r>
          </a:p>
          <a:p xmlns:a="http://schemas.openxmlformats.org/drawingml/2006/main">
            <a:r>
              <a:t>- /Users/samsonkitigo/Documents/Codex/sportshub/sportshub-backend/alembic</a:t>
            </a:r>
          </a:p>
          <a:p xmlns:a="http://schemas.openxmlformats.org/drawingml/2006/main">
            <a:r>
              <a:t>- /Users/samsonkitigo/Documents/Codex/sportshub/docs/TEST_PLAN.md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technology selection to requirements: relational persistence, provider replaceability, quota-conscious caching, and test evidence.</a:t>
            </a:r>
          </a:p>
          <a:p xmlns:a="http://schemas.openxmlformats.org/drawingml/2006/main">
            <a:r>
              <a:t>Redis and workers belong to the documented next architecture, not the current Docker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/Users/samsonkitigo/Documents/Codex/sportshub/sportshub-backend/app/repositories</a:t>
            </a:r>
          </a:p>
          <a:p xmlns:a="http://schemas.openxmlformats.org/drawingml/2006/main">
            <a:r>
              <a:t>- /Users/samsonkitigo/Documents/Codex/sportshub/sportshub-backend/app/integrations/isports.py</a:t>
            </a:r>
          </a:p>
          <a:p xmlns:a="http://schemas.openxmlformats.org/drawingml/2006/main">
            <a:r>
              <a:t>- /Users/samsonkitigo/Documents/Codex/sportshub/sportshub-backend/alembic</a:t>
            </a:r>
          </a:p>
          <a:p xmlns:a="http://schemas.openxmlformats.org/drawingml/2006/main">
            <a:r>
              <a:t>- /Users/samsonkitigo/Documents/Codex/sportshub/docs/TEST_PLAN.md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technology selection to requirements: relational persistence, provider replaceability, quota-conscious caching, and test evidence.</a:t>
            </a:r>
          </a:p>
          <a:p xmlns:a="http://schemas.openxmlformats.org/drawingml/2006/main">
            <a:r>
              <a:t>Redis and workers belong to the documented next architecture, not the current Docker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/Users/samsonkitigo/Documents/Codex/sportshub/sportshub-backend/app/repositories</a:t>
            </a:r>
          </a:p>
          <a:p xmlns:a="http://schemas.openxmlformats.org/drawingml/2006/main">
            <a:r>
              <a:t>- /Users/samsonkitigo/Documents/Codex/sportshub/sportshub-backend/app/integrations/isports.py</a:t>
            </a:r>
          </a:p>
          <a:p xmlns:a="http://schemas.openxmlformats.org/drawingml/2006/main">
            <a:r>
              <a:t>- /Users/samsonkitigo/Documents/Codex/sportshub/sportshub-backend/alembic</a:t>
            </a:r>
          </a:p>
          <a:p xmlns:a="http://schemas.openxmlformats.org/drawingml/2006/main">
            <a:r>
              <a:t>- /Users/samsonkitigo/Documents/Codex/sportshub/docs/TEST_PLAN.md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technology selection to requirements: relational persistence, provider replaceability, quota-conscious caching, and test evidence.</a:t>
            </a:r>
          </a:p>
          <a:p xmlns:a="http://schemas.openxmlformats.org/drawingml/2006/main">
            <a:r>
              <a:t>Redis and workers belong to the documented next architecture, not the current Docker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/Users/samsonkitigo/Documents/Codex/sportshub/sportshub-backend/app/repositories</a:t>
            </a:r>
          </a:p>
          <a:p xmlns:a="http://schemas.openxmlformats.org/drawingml/2006/main">
            <a:r>
              <a:t>- /Users/samsonkitigo/Documents/Codex/sportshub/sportshub-backend/app/integrations/isports.py</a:t>
            </a:r>
          </a:p>
          <a:p xmlns:a="http://schemas.openxmlformats.org/drawingml/2006/main">
            <a:r>
              <a:t>- /Users/samsonkitigo/Documents/Codex/sportshub/sportshub-backend/alembic</a:t>
            </a:r>
          </a:p>
          <a:p xmlns:a="http://schemas.openxmlformats.org/drawingml/2006/main">
            <a:r>
              <a:t>- /Users/samsonkitigo/Documents/Codex/sportshub/docs/TEST_PLAN.md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technology selection to requirements: relational persistence, provider replaceability, quota-conscious caching, and test evidence.</a:t>
            </a:r>
          </a:p>
          <a:p xmlns:a="http://schemas.openxmlformats.org/drawingml/2006/main">
            <a:r>
              <a:t>Redis and workers belong to the documented next architecture, not the current Docker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/Users/samsonkitigo/Documents/Codex/sportshub/sportshub-backend/app/repositories</a:t>
            </a:r>
          </a:p>
          <a:p xmlns:a="http://schemas.openxmlformats.org/drawingml/2006/main">
            <a:r>
              <a:t>- /Users/samsonkitigo/Documents/Codex/sportshub/sportshub-backend/app/integrations/isports.py</a:t>
            </a:r>
          </a:p>
          <a:p xmlns:a="http://schemas.openxmlformats.org/drawingml/2006/main">
            <a:r>
              <a:t>- /Users/samsonkitigo/Documents/Codex/sportshub/sportshub-backend/alembic</a:t>
            </a:r>
          </a:p>
          <a:p xmlns:a="http://schemas.openxmlformats.org/drawingml/2006/main">
            <a:r>
              <a:t>- /Users/samsonkitigo/Documents/Codex/sportshub/docs/TEST_PLAN.md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technology selection to requirements: relational persistence, provider replaceability, quota-conscious caching, and test evidence.</a:t>
            </a:r>
          </a:p>
          <a:p xmlns:a="http://schemas.openxmlformats.org/drawingml/2006/main">
            <a:r>
              <a:t>Redis and workers belong to the documented next architecture, not the current Docker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/Users/samsonkitigo/Documents/Codex/sportshub/sportshub-backend/app/repositories</a:t>
            </a:r>
          </a:p>
          <a:p xmlns:a="http://schemas.openxmlformats.org/drawingml/2006/main">
            <a:r>
              <a:t>- /Users/samsonkitigo/Documents/Codex/sportshub/sportshub-backend/app/integrations/isports.py</a:t>
            </a:r>
          </a:p>
          <a:p xmlns:a="http://schemas.openxmlformats.org/drawingml/2006/main">
            <a:r>
              <a:t>- /Users/samsonkitigo/Documents/Codex/sportshub/sportshub-backend/alembic</a:t>
            </a:r>
          </a:p>
          <a:p xmlns:a="http://schemas.openxmlformats.org/drawingml/2006/main">
            <a:r>
              <a:t>- /Users/samsonkitigo/Documents/Codex/sportshub/docs/TEST_PLAN.md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technology selection to requirements: relational persistence, provider replaceability, quota-conscious caching, and test evidence.</a:t>
            </a:r>
          </a:p>
          <a:p xmlns:a="http://schemas.openxmlformats.org/drawingml/2006/main">
            <a:r>
              <a:t>Redis and workers belong to the documented next architecture, not the current Docker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/Users/samsonkitigo/Documents/Codex/sportshub/sportshub-backend/app/repositories</a:t>
            </a:r>
          </a:p>
          <a:p xmlns:a="http://schemas.openxmlformats.org/drawingml/2006/main">
            <a:r>
              <a:t>- /Users/samsonkitigo/Documents/Codex/sportshub/sportshub-backend/app/integrations/isports.py</a:t>
            </a:r>
          </a:p>
          <a:p xmlns:a="http://schemas.openxmlformats.org/drawingml/2006/main">
            <a:r>
              <a:t>- /Users/samsonkitigo/Documents/Codex/sportshub/sportshub-backend/alembic</a:t>
            </a:r>
          </a:p>
          <a:p xmlns:a="http://schemas.openxmlformats.org/drawingml/2006/main">
            <a:r>
              <a:t>- /Users/samsonkitigo/Documents/Codex/sportshub/docs/TEST_PLAN.md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UI to backend enforcement: route protection improves experience, but authentication, authorization, validation, and user scoping are verified by the API.</a:t>
            </a:r>
          </a:p>
          <a:p xmlns:a="http://schemas.openxmlformats.org/drawingml/2006/main">
            <a:r>
              <a:t>Point out the controller-service-repository separation in the real package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/Users/samsonkitigo/Documents/Codex/sportshub/sportshub-backend/app/services/auth.py</a:t>
            </a:r>
          </a:p>
          <a:p xmlns:a="http://schemas.openxmlformats.org/drawingml/2006/main">
            <a:r>
              <a:t>- /Users/samsonkitigo/Documents/Codex/sportshub/sportshub-backend/app/api/dependencies.py</a:t>
            </a:r>
          </a:p>
          <a:p xmlns:a="http://schemas.openxmlformats.org/drawingml/2006/main">
            <a:r>
              <a:t>- /Users/samsonkitigo/Documents/Codex/sportshub/sportshub-backend/app/repositories</a:t>
            </a:r>
          </a:p>
          <a:p xmlns:a="http://schemas.openxmlformats.org/drawingml/2006/main">
            <a:r>
              <a:t>- /Users/samsonkitigo/Documents/Codex/sportshub/sportshub-backend/alembic</a:t>
            </a:r>
          </a:p>
          <a:p xmlns:a="http://schemas.openxmlformats.org/drawingml/2006/main">
            <a:r>
              <a:t>- /Users/samsonkitigo/Documents/Codex/sportshub/.tmp/submission-review/screenshots/sign-in-desktop.png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Testing is not a single count. Explain what each layer proves and show terminal output if time allows.</a:t>
            </a:r>
          </a:p>
          <a:p xmlns:a="http://schemas.openxmlformats.org/drawingml/2006/main">
            <a:r>
              <a:t>The PostgreSQL profile confirms migrations and repository behavior against the production database 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/Users/samsonkitigo/Documents/Codex/sportshub/docs/TEST_PLAN.md</a:t>
            </a:r>
          </a:p>
          <a:p xmlns:a="http://schemas.openxmlformats.org/drawingml/2006/main">
            <a:r>
              <a:t>- /Users/samsonkitigo/Documents/Codex/sportshub/Makefile</a:t>
            </a:r>
          </a:p>
          <a:p xmlns:a="http://schemas.openxmlformats.org/drawingml/2006/main">
            <a:r>
              <a:t>- /Users/samsonkitigo/Documents/Codex/sportshub/sportshub-backend/tests</a:t>
            </a:r>
          </a:p>
          <a:p xmlns:a="http://schemas.openxmlformats.org/drawingml/2006/main">
            <a:r>
              <a:t>- /Users/samsonkitigo/Documents/Codex/sportshub/sportshub-frontend/src/test/App.test.tsx</a:t>
            </a:r>
          </a:p>
          <a:p xmlns:a="http://schemas.openxmlformats.org/drawingml/2006/main">
            <a:r>
              <a:t>- /Users/samsonkitigo/Documents/Codex/sportshub/sportshub-frontend/e2e/smoke.spec.ts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live browser checklist. The route proves the major current-release use cases in one coherent story.</a:t>
            </a:r>
          </a:p>
          <a:p xmlns:a="http://schemas.openxmlformats.org/drawingml/2006/main">
            <a:r>
              <a:t>Keep the provider contingency ready so an external outage cannot stop the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- /Users/samsonkitigo/Documents/Codex/sportshub/sportshub-frontend/README.md</a:t>
            </a:r>
          </a:p>
          <a:p xmlns:a="http://schemas.openxmlformats.org/drawingml/2006/main">
            <a:r>
              <a:t>- /Users/samsonkitigo/Documents/Codex/sportshub/.tmp/submission-review/screenshots/team-explorer-desktop.png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executable scope checkpoint. Everything in the four cards is demonstrable in the current application.</a:t>
            </a:r>
          </a:p>
          <a:p xmlns:a="http://schemas.openxmlformats.org/drawingml/2006/main">
            <a:r>
              <a:t>The release-boundary strip prevents later design diagrams from being mistaken for completed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- /Users/samsonkitigo/Documents/Codex/sportshub/sportshub-frontend/src/pages/HomePage.tsx</a:t>
            </a:r>
          </a:p>
          <a:p xmlns:a="http://schemas.openxmlformats.org/drawingml/2006/main">
            <a:r>
              <a:t>- /Users/samsonkitigo/Documents/Codex/sportshub/sportshub-frontend/src/pages/FixtureDetailPage.tsx</a:t>
            </a:r>
          </a:p>
          <a:p xmlns:a="http://schemas.openxmlformats.org/drawingml/2006/main">
            <a:r>
              <a:t>- /Users/samsonkitigo/Documents/Codex/sportshub/sportshub-frontend/src/pages/TeamsPage.tsx</a:t>
            </a:r>
          </a:p>
          <a:p xmlns:a="http://schemas.openxmlformats.org/drawingml/2006/main">
            <a:r>
              <a:t>- /Users/samsonkitigo/Documents/Codex/sportshub/sportshub-backend/app/api/notifications.py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executable scope checkpoint. Everything in the four cards is demonstrable in the current application.</a:t>
            </a:r>
          </a:p>
          <a:p xmlns:a="http://schemas.openxmlformats.org/drawingml/2006/main">
            <a:r>
              <a:t>The release-boundary strip prevents later design diagrams from being mistaken for completed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- /Users/samsonkitigo/Documents/Codex/sportshub/sportshub-frontend/src/pages/HomePage.tsx</a:t>
            </a:r>
          </a:p>
          <a:p xmlns:a="http://schemas.openxmlformats.org/drawingml/2006/main">
            <a:r>
              <a:t>- /Users/samsonkitigo/Documents/Codex/sportshub/sportshub-frontend/src/pages/FixtureDetailPage.tsx</a:t>
            </a:r>
          </a:p>
          <a:p xmlns:a="http://schemas.openxmlformats.org/drawingml/2006/main">
            <a:r>
              <a:t>- /Users/samsonkitigo/Documents/Codex/sportshub/sportshub-frontend/src/pages/TeamsPage.tsx</a:t>
            </a:r>
          </a:p>
          <a:p xmlns:a="http://schemas.openxmlformats.org/drawingml/2006/main">
            <a:r>
              <a:t>- /Users/samsonkitigo/Documents/Codex/sportshub/sportshub-backend/app/api/notifications.py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why each technology was selected, not only what it is.</a:t>
            </a:r>
          </a:p>
          <a:p xmlns:a="http://schemas.openxmlformats.org/drawingml/2006/main">
            <a:r>
              <a:t>React and FastAPI create a clean browser-to-API boundary; TypeScript and Pydantic validate both sides; Docker makes the demonstration reproducible.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/Users/samsonkitigo/Documents/Codex/sportshub/sportshub-frontend/package.json</a:t>
            </a:r>
          </a:p>
          <a:p xmlns:a="http://schemas.openxmlformats.org/drawingml/2006/main">
            <a:r>
              <a:t>- /Users/samsonkitigo/Documents/Codex/sportshub/sportshub-backend/requirements.txt</a:t>
            </a:r>
          </a:p>
          <a:p xmlns:a="http://schemas.openxmlformats.org/drawingml/2006/main">
            <a:r>
              <a:t>- /Users/samsonkitigo/Documents/Codex/sportshub/compose.yaml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why each technology was selected, not only what it is.</a:t>
            </a:r>
          </a:p>
          <a:p xmlns:a="http://schemas.openxmlformats.org/drawingml/2006/main">
            <a:r>
              <a:t>React and FastAPI create a clean browser-to-API boundary; TypeScript and Pydantic validate both sides; Docker makes the demonstration reproducible.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/Users/samsonkitigo/Documents/Codex/sportshub/sportshub-frontend/package.json</a:t>
            </a:r>
          </a:p>
          <a:p xmlns:a="http://schemas.openxmlformats.org/drawingml/2006/main">
            <a:r>
              <a:t>- /Users/samsonkitigo/Documents/Codex/sportshub/sportshub-backend/requirements.txt</a:t>
            </a:r>
          </a:p>
          <a:p xmlns:a="http://schemas.openxmlformats.org/drawingml/2006/main">
            <a:r>
              <a:t>- /Users/samsonkitigo/Documents/Codex/sportshub/compose.yaml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opening promise: SportsHub already demonstrates a coherent matchday experience and the design work shows how it grows responsibly.</a:t>
            </a:r>
          </a:p>
          <a:p xmlns:a="http://schemas.openxmlformats.org/drawingml/2006/main">
            <a:r>
              <a:t>Invite technical questions about architecture, authentication, persistence, provider normalization, caching, migrations, or the test strategy.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- /Users/samsonkitigo/Documents/Codex/sportshub/docs/sportshub_usecase.pdf</a:t>
            </a:r>
          </a:p>
          <a:p xmlns:a="http://schemas.openxmlformats.org/drawingml/2006/main">
            <a:r>
              <a:t>- /Users/samsonkitigo/Documents/Codex/sportshub/docs/sportshub_architecture.pdf</a:t>
            </a:r>
          </a:p>
          <a:p xmlns:a="http://schemas.openxmlformats.org/drawingml/2006/main">
            <a:r>
              <a:t>- /Users/samsonkitigo/Documents/Codex/sportshub/.tmp/submission-review/screenshots/home-hero.png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2f39dd6e142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c91295e3bd4eaa" /><Relationship Type="http://schemas.openxmlformats.org/officeDocument/2006/relationships/slideLayout" Target="/ppt/slideLayouts/slideLayout1.xml" Id="Rcc2e0193784348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2e0193784348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52278f53943ec" /><Relationship Type="http://schemas.openxmlformats.org/officeDocument/2006/relationships/image" Target="/ppt/media/image.jpeg" Id="Rb78735efbf8b4966" /><Relationship Type="http://schemas.openxmlformats.org/officeDocument/2006/relationships/notesSlide" Target="/ppt/notesSlides/notesSlide1.xml" Id="R886eab5c9d4a46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fd098133f42f9" /><Relationship Type="http://schemas.openxmlformats.org/officeDocument/2006/relationships/notesSlide" Target="/ppt/notesSlides/notesSlide2.xml" Id="Rae86affe4b2a42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df2c3f3ab49d6" /><Relationship Type="http://schemas.openxmlformats.org/officeDocument/2006/relationships/notesSlide" Target="/ppt/notesSlides/notesSlide3.xml" Id="Re121562871c04d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e04afaa374d22" /><Relationship Type="http://schemas.openxmlformats.org/officeDocument/2006/relationships/notesSlide" Target="/ppt/notesSlides/notesSlide4.xml" Id="R6f4deeb8a1b542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953f8fdba49be" /><Relationship Type="http://schemas.openxmlformats.org/officeDocument/2006/relationships/notesSlide" Target="/ppt/notesSlides/notesSlide5.xml" Id="R60b929882c5e45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b0a4751bd40b3" /><Relationship Type="http://schemas.openxmlformats.org/officeDocument/2006/relationships/notesSlide" Target="/ppt/notesSlides/notesSlide6.xml" Id="Rcf86b4e68ad945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7aab4094c4295" /><Relationship Type="http://schemas.openxmlformats.org/officeDocument/2006/relationships/notesSlide" Target="/ppt/notesSlides/notesSlide7.xml" Id="Rddda6f559d5b49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5a518228646a0" /><Relationship Type="http://schemas.openxmlformats.org/officeDocument/2006/relationships/notesSlide" Target="/ppt/notesSlides/notesSlide8.xml" Id="R88d34234627a4d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689681fe445ad" /><Relationship Type="http://schemas.openxmlformats.org/officeDocument/2006/relationships/notesSlide" Target="/ppt/notesSlides/notesSlide9.xml" Id="R54b93b0fdb6249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42d518191495a" /><Relationship Type="http://schemas.openxmlformats.org/officeDocument/2006/relationships/notesSlide" Target="/ppt/notesSlides/notesSlide10.xml" Id="R6b5df73a7aa841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0a28994ba4462" /><Relationship Type="http://schemas.openxmlformats.org/officeDocument/2006/relationships/notesSlide" Target="/ppt/notesSlides/notesSlide11.xml" Id="R3994580169c34d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f6135cc484b9a" /><Relationship Type="http://schemas.openxmlformats.org/officeDocument/2006/relationships/notesSlide" Target="/ppt/notesSlides/notesSlide12.xml" Id="Rb9384a1379cb46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bedad50b24c34" /><Relationship Type="http://schemas.openxmlformats.org/officeDocument/2006/relationships/image" Target="/ppt/media/image2.jpeg" Id="R6fd87ee977304f8a" /><Relationship Type="http://schemas.openxmlformats.org/officeDocument/2006/relationships/notesSlide" Target="/ppt/notesSlides/notesSlide13.xml" Id="R4f090b17c84741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37ab8be70472d" /><Relationship Type="http://schemas.openxmlformats.org/officeDocument/2006/relationships/notesSlide" Target="/ppt/notesSlides/notesSlide14.xml" Id="Re51d4f865fc749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884539e214134" /><Relationship Type="http://schemas.openxmlformats.org/officeDocument/2006/relationships/image" Target="/ppt/media/image3.jpeg" Id="R81593b68f37c458a" /><Relationship Type="http://schemas.openxmlformats.org/officeDocument/2006/relationships/notesSlide" Target="/ppt/notesSlides/notesSlide15.xml" Id="Re9f5ee215d534b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25c66049745ed" /><Relationship Type="http://schemas.openxmlformats.org/officeDocument/2006/relationships/notesSlide" Target="/ppt/notesSlides/notesSlide16.xml" Id="R7c3858c4b4c84e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cf2e7e3bd4613" /><Relationship Type="http://schemas.openxmlformats.org/officeDocument/2006/relationships/notesSlide" Target="/ppt/notesSlides/notesSlide17.xml" Id="R910e5770de0148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f4d55fb6a457a" /><Relationship Type="http://schemas.openxmlformats.org/officeDocument/2006/relationships/notesSlide" Target="/ppt/notesSlides/notesSlide18.xml" Id="R91cac03f98ee40c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f462d97424c2c" /><Relationship Type="http://schemas.openxmlformats.org/officeDocument/2006/relationships/notesSlide" Target="/ppt/notesSlides/notesSlide19.xml" Id="Ref31add944814a1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6ab04d2604201" /><Relationship Type="http://schemas.openxmlformats.org/officeDocument/2006/relationships/image" Target="/ppt/media/image4.jpeg" Id="R945ee75eeb8a4de0" /><Relationship Type="http://schemas.openxmlformats.org/officeDocument/2006/relationships/notesSlide" Target="/ppt/notesSlides/notesSlide20.xml" Id="R38b87747dc5b4f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8F04A-B3FF-4C2E-A1AB-E766EA6C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F59EF-290B-4102-8D15-EF9D55AE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5143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 focused football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matchday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BC9AB-A2D0-48E8-9570-42439AB8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CS425 project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D367F-214C-44E5-9ACF-483FD879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57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Samson Kitigo · Student ID 618666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6A5FA-37A0-4013-9E18-00F08DD0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9B93B-6720-4607-BDA7-DD745C6D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C5286-AF56-4A29-8146-05B2D28A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33900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C2CFD-C31D-4CC2-94C0-706BE5CE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91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6B37E-2697-4E80-A723-396A08C9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33900"/>
            <a:ext cx="14097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CD43A-E70C-4DA6-81F8-5F1536E1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910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CEDED-9298-4B1F-8D3E-5E1B1D99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244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 working web release backed by a documented path to live updates, alerts, ticket discovery, and administration.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B7B19-BA5F-457B-A7B0-6E2E8CFA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09575"/>
            <a:ext cx="5619750" cy="565785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735efbf8b4966"/>
          <a:srcRect xmlns:a="http://schemas.openxmlformats.org/drawingml/2006/main" l="22068" t="0" r="220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457200"/>
            <a:ext cx="5524500" cy="5562600"/>
          </a:xfrm>
          <a:prstGeom xmlns:a="http://schemas.openxmlformats.org/drawingml/2006/main" prst="roundRect">
            <a:avLst>
              <a:gd name="adj" fmla="val 2069"/>
            </a:avLst>
          </a:prstGeom>
        </p:spPr>
      </p:pic>
    </p:spTree>
    <p:extLst>
      <p:ext uri="{BB962C8B-B14F-4D97-AF65-F5344CB8AC3E}">
        <p14:creationId xmlns:p14="http://schemas.microsoft.com/office/powerpoint/2010/main" val="1294157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24C2B6-EEBD-4F39-A96C-4D61F0CF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277BA-D985-4737-8A4A-DC12683C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SportsHub connects the pieces of a fan’s matchday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74BE9-0D9E-43E0-B425-53DB504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65C22-713D-4ADE-821A-6637D2DB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4210050" cy="4457700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447AE-6E3A-417A-A3C7-ECB6FB3F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Problem and purpose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86E12-AC8A-4E14-B199-0F9E8E56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390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Scores and fan tools often live in separate places.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85C28-53E9-4646-A198-3248BA8C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3314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7EC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CE7"/>
                </a:solidFill>
                <a:latin typeface="Aptos"/>
                <a:ea typeface="Aptos"/>
                <a:cs typeface="Aptos"/>
              </a:rPr>
              <a:t>SportsHub brings the essential football journey into one responsive experience while keeping the architecture open to richer live and administrative capabilities.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2CDCC-EF32-4628-A356-54537CC7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657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5F907-C718-4EF5-82CD-F0F5C0BB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FOOTBALL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508DF-99A6-4980-A82A-865535F4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81150"/>
            <a:ext cx="3048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78FCD-8773-4474-8D7E-5D441B00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7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2F0C0-C584-4779-9BDB-D361C6D1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57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292E2-406F-445C-B20C-A5A83D32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6212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E9166-39F0-4170-8655-11676254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2628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Browse matchdays, inspect fixtures, follow teams, and manage alert preferences.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E6450-1C4A-4A7C-994F-E1CFF802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3048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3DAF4-6D35-45E4-B333-5F722317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7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8758D-6FDD-42ED-B889-4A069097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57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C9D8F-5D64-4B82-A94D-82361787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Administrators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CAD88-34ED-4A74-952C-E9CC941B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05050"/>
            <a:ext cx="2628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 planned portal manages featured tournaments, integrations, configuration, and operations.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3F3AEE-2DCA-460B-9815-9C45729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24300"/>
            <a:ext cx="3048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3FC86-F45F-4729-844A-A7CC07FC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147E1-6ACF-4BD5-8181-28A5133F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00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BEED1-FB8F-4189-BCCE-01D6D0BA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052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External providers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B91DB1-E1D0-48DA-93E4-3FE7DFDF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48200"/>
            <a:ext cx="2628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Sports data, ticket inventory, and delivery networks remain outside the SportsHub system boundary.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DFF3D5-3E18-4F97-801E-7245B166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24300"/>
            <a:ext cx="3048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687B2D-B1EC-4840-AF4D-7BECD06D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56CBF9-2EE8-4301-9023-C053EE78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00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289539-F089-46E8-802F-7391BC20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052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Course objective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B44A68-624D-461D-AFDD-EBEC71CC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48200"/>
            <a:ext cx="2628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Demonstrate requirements traceability, layered design, persistence, testing, and a working application.</a:t>
            </a:r>
          </a:p>
        </p:txBody>
      </p:sp>
    </p:spTree>
    <p:extLst>
      <p:ext uri="{BB962C8B-B14F-4D97-AF65-F5344CB8AC3E}">
        <p14:creationId xmlns:p14="http://schemas.microsoft.com/office/powerpoint/2010/main" val="747637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2AF14-3970-457B-A22F-190C1526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D790B-5F92-444C-A1EE-C06D335E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core stack favors speed, clarity, and strong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9C0EF-0665-43B4-87F6-FC572704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14A28-3A7F-4431-A338-253C8B28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70417-ED21-48B9-9B9A-87DE4050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47"/>
          </a:solidFill>
          <a:ln xmlns:a="http://schemas.openxmlformats.org/drawingml/2006/main" w="0">
            <a:solidFill>
              <a:srgbClr val="1762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C696B-4C08-4B78-AE4A-8CE74FEF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React + TypeScript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9EB32-7584-4D07-B700-79CDD7B4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Responsive client and explicit contracts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6C1B3-0B1A-4C3F-ADFC-D18D1A79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Reusable page and form components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Client-side routing for clear fan journeys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Type checking catches API-shape mistakes early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Vite keeps local development and builds fast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FC067-5138-4A76-BF0B-CEFA0193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D7534-064E-461B-9A81-21A9771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CBBCF-69D5-473D-86BF-69E28646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FastAPI + Pydantic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14435-B183-46B1-B9EC-DC6BE1C2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3D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3D2F"/>
                </a:solidFill>
                <a:latin typeface="Aptos"/>
                <a:ea typeface="Aptos"/>
                <a:cs typeface="Aptos"/>
              </a:rPr>
              <a:t>Small API surface with built-in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D048F-650A-4F21-B940-F0403972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Versioned REST endpoints and OpenAPI documentation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Typed request and response schemas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Dependency-based authentication and authorization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Straightforward unit and API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74FD5-C0E8-48DC-A870-8FE9C16F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C9D4F-EA19-4096-A685-20F0594F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7A34"/>
          </a:solidFill>
          <a:ln xmlns:a="http://schemas.openxmlformats.org/drawingml/2006/main" w="0">
            <a:solidFill>
              <a:srgbClr val="D47A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4FD92-3CEA-40D1-9D40-E0FE7F1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6A5B0-5B4D-4CA3-B397-9E83BBF8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47A3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47A34"/>
                </a:solidFill>
                <a:latin typeface="Aptos"/>
                <a:ea typeface="Aptos"/>
                <a:cs typeface="Aptos"/>
              </a:rPr>
              <a:t>One repeatable environment for the full stack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0180F-3075-4AB7-B57E-C5A84A4B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Starts PostgreSQL, migrations, API, and web client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Reduces machine-specific setup differences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Preserves service boundaries without microservices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Supports a separate PostgreSQL test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7DAA1-EFB2-406D-A168-E486649E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Selection principle: use mature tools that make the architecture visible without adding unnecessary operational complexity.</a:t>
            </a:r>
          </a:p>
        </p:txBody>
      </p:sp>
    </p:spTree>
    <p:extLst>
      <p:ext uri="{BB962C8B-B14F-4D97-AF65-F5344CB8AC3E}">
        <p14:creationId xmlns:p14="http://schemas.microsoft.com/office/powerpoint/2010/main" val="15408994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Persistence and integrations can evolve independently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Relational integrity for users, teams, preferences, and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Transactions and constraints fit account-to-team associations and user-scoped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SQLAlchemy + Alembic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Explicit repositories plus repeatable schema evolution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ORM mappings keep queries isolated while migrations make database changes reviewable.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iSportsAPI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Provider data normalized behind a stable SportsHub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adapter isolates vendor fields, applies caching, and can be replaced without rewriting endpoints.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Pytest + Vitest + Playwright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Evidence from business rules through browser journeys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Layered tests cover normal, boundary, error, persistence, desktop, and mobile behavior.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current release uses a persistent file cache for provider responses; Redis and background workers are planned target-architecture components.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18E7BF-E48C-455C-ABC2-B3418C7A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C3277-8897-490B-A2EA-D4B1AAC5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Six use cases define the product and its next iterations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80830-67BB-417B-87A9-16D76FF7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F3B06-493E-480D-8C99-A6FD57EC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C7AFA-C29C-4A48-8B62-A9728C7D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BCDF0-CAC3-4E1F-AA99-374D797D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64F4D-A92F-46CC-9644-C9ECFB7D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User account management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BEFF1-9BC2-493C-A09B-7DA05560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764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7A34"/>
          </a:solidFill>
          <a:ln xmlns:a="http://schemas.openxmlformats.org/drawingml/2006/main" w="0">
            <a:solidFill>
              <a:srgbClr val="D47A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21DFE-3414-4BC5-81BC-D7638A65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430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FDF8B-22B8-4285-A61C-0F5860D5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859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Registration and sign-in work now; full profile update and account deletion remain planned.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F22A6-0CB5-4082-8478-8225D75E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D0A75-EC13-4EA3-A5DE-40780DC2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C1101-DCF5-488C-BF54-3D8525C1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811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29D34-3845-4545-971C-2AB6ABCD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Manage favorite teams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77BDD-8925-465D-832C-746DC021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6764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A9B5F-AC37-49E4-A60D-E2715DAC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430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FC2F0-593A-469D-82FF-7583FF2A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859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Search, follow, list, and remove teams through authenticated user-scoped operations.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1EFC2-EF96-4BA5-B526-160B390F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7C448-7406-4A52-BE44-158F7CF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ACA9B-85E1-4B4E-AAB3-D8DE20BD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72076D-2C23-49C5-9711-593D32A6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View live matches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5AF45-829D-42C3-8BB5-CD136FFD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908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7A34"/>
          </a:solidFill>
          <a:ln xmlns:a="http://schemas.openxmlformats.org/drawingml/2006/main" w="0">
            <a:solidFill>
              <a:srgbClr val="D47A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A6AD4-0A72-4FE8-9750-412EE99B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575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116EC-57F6-4FC2-8F02-F3B9CBCF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04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Date and status browsing work now; independent polling and SSE updates are planned.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A13D8F-EA89-4D4E-BF92-E13C333C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3845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32512-4075-47EB-A8B9-D10E4BAE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46F6B-FF86-4003-A927-089D6D1A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956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7CB27B-8F60-4D5B-AB3E-8251BA84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09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View match details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C65E10-BC6A-4B8E-B0B1-167CE75C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908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1C1422-3C7B-490C-8E9F-A64FA72A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575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424E12-6351-4E8A-B991-55935F5D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004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Overview, statistics, lineups, and timeline are available when provider data exists.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C26504-5997-494C-83E9-82A5C460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5290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F5B735-CDD8-4F7E-8194-5B784C20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5811ED-58EF-490E-9888-0A46E57F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E219A7-526E-42E8-9C5E-14A429E0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Search official tickets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1D18AB-3527-4695-9011-77F0C684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053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247"/>
          </a:solidFill>
          <a:ln xmlns:a="http://schemas.openxmlformats.org/drawingml/2006/main" w="0">
            <a:solidFill>
              <a:srgbClr val="17624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B780C4-2F3D-44E3-91C5-B48EB433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719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PLANNED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83444A-5DA7-472F-B766-73DBFC2C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Resolve fixture context, search an official provider, and redirect purchase externally.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F8D416-DC66-4483-B7EA-EA5DFC54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9E0CA8-763F-439C-9471-69005820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7B10C1-ECD8-4E3E-8AAE-AA73934B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100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530393-4393-4650-9554-F1A1B54D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2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Feature tournaments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AC9BA1-757E-441B-980D-59336063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3053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247"/>
          </a:solidFill>
          <a:ln xmlns:a="http://schemas.openxmlformats.org/drawingml/2006/main" w="0">
            <a:solidFill>
              <a:srgbClr val="17624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01B33B-D68F-420B-8F0C-D44AAEC8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3719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PLANNED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0EFBFD-16FF-488E-8F8A-B6222072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148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Administrators select, order, and remove featured competitions without deleting fixtures.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5C8259-3FB1-48F1-B92A-C59F2FC9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868582-F868-4ACB-9DB4-063AD23A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use-case descriptions record actors, preconditions, normal flows, postconditions, and business rules—not just feature names.</a:t>
            </a:r>
          </a:p>
        </p:txBody>
      </p:sp>
    </p:spTree>
    <p:extLst>
      <p:ext uri="{BB962C8B-B14F-4D97-AF65-F5344CB8AC3E}">
        <p14:creationId xmlns:p14="http://schemas.microsoft.com/office/powerpoint/2010/main" val="11427708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Persistence and integrations can evolve independently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Relational integrity for users, teams, preferences, and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Transactions and constraints fit account-to-team associations and user-scoped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SQLAlchemy + Alembic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Explicit repositories plus repeatable schema evolution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ORM mappings keep queries isolated while migrations make database changes reviewable.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iSportsAPI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Provider data normalized behind a stable SportsHub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adapter isolates vendor fields, applies caching, and can be replaced without rewriting endpoints.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Pytest + Vitest + Playwright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Evidence from business rules through browser journeys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Layered tests cover normal, boundary, error, persistence, desktop, and mobile behavior.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current release uses a persistent file cache for provider responses; Redis and background workers are planned target-architecture components.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Persistence and integrations can evolve independently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Relational integrity for users, teams, preferences, and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Transactions and constraints fit account-to-team associations and user-scoped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SQLAlchemy + Alembic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Explicit repositories plus repeatable schema evolution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ORM mappings keep queries isolated while migrations make database changes reviewable.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iSportsAPI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Provider data normalized behind a stable SportsHub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adapter isolates vendor fields, applies caching, and can be replaced without rewriting endpoints.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Pytest + Vitest + Playwright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Evidence from business rules through browser journeys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Layered tests cover normal, boundary, error, persistence, desktop, and mobile behavior.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current release uses a persistent file cache for provider responses; Redis and background workers are planned target-architecture components.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Persistence and integrations can evolve independently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Relational integrity for users, teams, preferences, and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Transactions and constraints fit account-to-team associations and user-scoped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SQLAlchemy + Alembic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Explicit repositories plus repeatable schema evolution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ORM mappings keep queries isolated while migrations make database changes reviewable.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iSportsAPI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Provider data normalized behind a stable SportsHub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adapter isolates vendor fields, applies caching, and can be replaced without rewriting endpoints.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Pytest + Vitest + Playwright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Evidence from business rules through browser journeys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Layered tests cover normal, boundary, error, persistence, desktop, and mobile behavior.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current release uses a persistent file cache for provider responses; Redis and background workers are planned target-architecture components.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Persistence and integrations can evolve independently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Relational integrity for users, teams, preferences, and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Transactions and constraints fit account-to-team associations and user-scoped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SQLAlchemy + Alembic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Explicit repositories plus repeatable schema evolution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ORM mappings keep queries isolated while migrations make database changes reviewable.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iSportsAPI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Provider data normalized behind a stable SportsHub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adapter isolates vendor fields, applies caching, and can be replaced without rewriting endpoints.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Pytest + Vitest + Playwright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Evidence from business rules through browser journeys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Layered tests cover normal, boundary, error, persistence, desktop, and mobile behavior.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current release uses a persistent file cache for provider responses; Redis and background workers are planned target-architecture components.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Persistence and integrations can evolve independently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Relational integrity for users, teams, preferences, and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Transactions and constraints fit account-to-team associations and user-scoped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SQLAlchemy + Alembic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Explicit repositories plus repeatable schema evolution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ORM mappings keep queries isolated while migrations make database changes reviewable.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iSportsAPI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Provider data normalized behind a stable SportsHub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adapter isolates vendor fields, applies caching, and can be replaced without rewriting endpoints.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Pytest + Vitest + Playwright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Evidence from business rules through browser journeys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Layered tests cover normal, boundary, error, persistence, desktop, and mobile behavior.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current release uses a persistent file cache for provider responses; Redis and background workers are planned target-architecture components.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Persistence and integrations can evolve independently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Relational integrity for users, teams, preferences, and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Transactions and constraints fit account-to-team associations and user-scoped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SQLAlchemy + Alembic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Explicit repositories plus repeatable schema evolution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ORM mappings keep queries isolated while migrations make database changes reviewable.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iSportsAPI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Provider data normalized behind a stable SportsHub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adapter isolates vendor fields, applies caching, and can be replaced without rewriting endpoints.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Pytest + Vitest + Playwright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Evidence from business rules through browser journeys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Layered tests cover normal, boundary, error, persistence, desktop, and mobile behavior.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current release uses a persistent file cache for provider responses; Redis and background workers are planned target-architecture components.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Persistence and integrations can evolve independently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Relational integrity for users, teams, preferences, and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Transactions and constraints fit account-to-team associations and user-scoped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SQLAlchemy + Alembic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Explicit repositories plus repeatable schema evolution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ORM mappings keep queries isolated while migrations make database changes reviewable.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iSportsAPI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Provider data normalized behind a stable SportsHub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adapter isolates vendor fields, applies caching, and can be replaced without rewriting endpoints.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Pytest + Vitest + Playwright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Evidence from business rules through browser journeys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Layered tests cover normal, boundary, error, persistence, desktop, and mobile behavior.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current release uses a persistent file cache for provider responses; Redis and background workers are planned target-architecture components.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0EA31C-82BC-4EFB-BD49-A0296150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8AF70-D27B-45AC-85C0-26F7B2FC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Security and persistence are enforced behind the 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BBA25-C588-403D-8429-49F44929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AC2CB-87EC-4AE8-A166-8F86C1A1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2647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5BE31-EAE1-4F39-BF2B-1B7D67B9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SECURITY + DATA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9C9FE-B85F-4E6F-BEFC-7F12107D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4CC50-A605-49B1-B0C5-AF524778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Passwords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FD2EF-AEF5-46B8-8538-F78324C1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BCrypt hashes are stored instead of plaintext credentials.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052E0-282D-4C5F-B08C-96342164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B490C-CFD8-461F-B243-89B692B4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Bearer 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4FCCF-2575-4D57-9110-0E306F36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194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Signed, expiring JWTs are validated for protected requests.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DBF5B-951E-4DB0-A8EB-8F6B2D1D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E5495-DAB7-4D34-A99A-24CB4ADD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Current user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5134B-EC97-4702-B78E-14A326AE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API derives identity from the token; the browser never supplies userId.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ED5E3-2263-4512-BFF6-A9DF7882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1E4FC-2C9D-4405-9B5B-4C37D184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Repositories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2486A-F98C-42A1-8B3B-D5D3E39E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29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SQLAlchemy persistence operations stay outside endpoint and service code.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2EEC3-7E67-4BA0-AB9E-25278C5A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CAC9B-6941-4206-9DFE-4D3A30AD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Migrations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6028C-04C8-424A-BCA3-9B09C7AE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33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Alembic creates repeatable, reviewable PostgreSQL schema changes.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04613-A28C-4358-A27B-DA074D7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B33DA-DEEE-4F2C-84D5-6096DCB4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Secrets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56557-3663-4472-B011-33560B54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388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Provider keys and signing secrets remain in ignored runtime configuration.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3F55E-2787-4622-88AA-801C5F8E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438275"/>
            <a:ext cx="5448300" cy="43053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87ee977304f8a"/>
          <a:srcRect xmlns:a="http://schemas.openxmlformats.org/drawingml/2006/main" l="10266" t="0" r="102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1485900"/>
            <a:ext cx="5353050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607966-42E1-46E8-AC0B-3F131949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10250"/>
            <a:ext cx="5353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5187CE-34A7-4EC0-93F9-A9637AA1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924550"/>
            <a:ext cx="501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 is enforced by the API—not by hiding links.</a:t>
            </a:r>
          </a:p>
        </p:txBody>
      </p:sp>
    </p:spTree>
    <p:extLst>
      <p:ext uri="{BB962C8B-B14F-4D97-AF65-F5344CB8AC3E}">
        <p14:creationId xmlns:p14="http://schemas.microsoft.com/office/powerpoint/2010/main" val="3697798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8135C7-4E81-4690-A95B-F0A56C8C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957F1-CFEE-4208-8C9E-02279674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Automated evidence covers behavior at every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C5C0F-4978-4A63-8378-F9819008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403D3-6E90-4A02-B202-D83493B2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70236-675C-4426-AE9D-A4B6956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5E26A-18C4-4EEC-9884-2DE7E5C7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backend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5E3B1-3794-4B6E-889B-E5EF7E0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pytest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169DA-0120-4CCE-B8C4-96CF4D11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002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DCE82-8BD0-4449-A678-802DFEC8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383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F6867-FAF6-49ED-AD08-3F0DAEF1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frontend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1E6E0-943A-4327-85E3-065D712E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67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Vitest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224DD-92FF-408A-A634-DF8C21ED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3279C-B8F8-4901-A7BF-5F65AFA2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383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2F58C-B7B7-4761-84B8-9E2D1A0B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browser projects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75108-4A91-47CE-B270-36A2A04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67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Playwright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E8B0E-1E68-425A-A2A4-DA208149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002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4F859-8571-4D69-B6EC-C1D70A0C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383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DDD48-C365-4275-8FC3-5A8A608F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574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PostgreSQL 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3AF8A-A2CF-4455-A905-BC40A41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67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Docker profile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367D1-E4BC-42FA-8A01-4CF6F085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11633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08A20-1D9C-4B08-A3DD-3C7FADBC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Controller and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E7FE20-228A-485A-AEF9-48229A70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00475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Authentication, validation, status codes, matchday filtering, and fixture details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7F7D7-C8B9-4ECB-8E0B-21B26A40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166"/>
          </a:solidFill>
          <a:ln xmlns:a="http://schemas.openxmlformats.org/drawingml/2006/main" w="0">
            <a:solidFill>
              <a:srgbClr val="5271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F3E9A9-8132-48C8-9379-5A2A60A3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Service and repository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B1ADB-F899-44B0-A29E-0FE31545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95775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Preference rules, alert state, database queries, transactions, and error cases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1A033F-9F34-46CA-86AE-4A555EB6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166"/>
          </a:solidFill>
          <a:ln xmlns:a="http://schemas.openxmlformats.org/drawingml/2006/main" w="0">
            <a:solidFill>
              <a:srgbClr val="5271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50FF27-66FD-4E66-83B7-85359A20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Provider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89F2BA-C61F-4557-AB3D-086111ED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91075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iSportsAPI normalization, caching, fallback host, optional detail data, and failures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7A441C-A448-4E2D-B8A2-614A52DD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166"/>
          </a:solidFill>
          <a:ln xmlns:a="http://schemas.openxmlformats.org/drawingml/2006/main" w="0">
            <a:solidFill>
              <a:srgbClr val="5271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C511BE-F4B2-4E11-8CB7-65041632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A6F5F7-0A65-44FB-BB34-765C7832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86375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Desktop and mobile journeys through matchday, fixture tabs, and team exploration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4AF1D9-F5F0-489F-95F0-7145ECEC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Last verified locally · August 25, 2026</a:t>
            </a:r>
          </a:p>
        </p:txBody>
      </p:sp>
    </p:spTree>
    <p:extLst>
      <p:ext uri="{BB962C8B-B14F-4D97-AF65-F5344CB8AC3E}">
        <p14:creationId xmlns:p14="http://schemas.microsoft.com/office/powerpoint/2010/main" val="18393233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0EB536-9DA8-46F9-B73F-539530C0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4B53F-BC5A-4FA8-959B-460F9306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demo follows one fan from discovery to personalization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B9FB8-0F2D-4CC9-87C4-AD666CCE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63076-F6E3-401C-AA5B-C54953CA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81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  <a:ln xmlns:a="http://schemas.openxmlformats.org/drawingml/2006/main" w="0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1A8C9-38E6-4695-B48E-A79109CA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36A96-8205-4C3F-8340-9EF11298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19290-73A3-41D9-91D8-6B7BB4CE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668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Browse the matchday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00C54-5884-41FE-84B4-018778EF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Choose a date and open a fixture.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F1982-43B6-49DC-8AE2-15A82EC0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3FC25-7EBD-46A7-929B-F980006B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95831-A9A8-4A45-A6EF-EE08BCAA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05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Inspect the fixture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AEE56-19E0-442F-AFED-37DE09AA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90825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Show statistics, lineups, timeline, and the chat boundary.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49136-EADC-431D-BA84-995A9184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2B080-2CDE-448F-B5E7-0D60277F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4D8F8-E2C8-40C1-9707-41BE0C31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432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Explore a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EECBD-A29D-4E8E-9C90-FF253297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29025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Search, open a profile, and revisit a recent search.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F76F7-6BC4-4592-972B-6EDF91B2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36698-EA11-457F-AD5D-BF7BBA0F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14111-84F5-4FE7-98D8-B016627C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814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Build My Hub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6A9CE-9C4C-4408-B43D-4DC3B546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67225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Register, follow the team, then remove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6F229-460C-479D-B3DA-932F0D54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223F5-B03B-4D76-AA1C-7B0C1360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FFA81-1CF0-419A-A978-205B8069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96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Clear the alerts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543E1B-D626-4F4C-9B5E-8CB85C11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05425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Read one item and mark the rest as read.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0650D-AC39-474A-B2CF-1612053B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28775"/>
            <a:ext cx="6534150" cy="432435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93b68f37c458a"/>
          <a:srcRect xmlns:a="http://schemas.openxmlformats.org/drawingml/2006/main" l="2421" t="0" r="24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1676400"/>
            <a:ext cx="6438900" cy="422910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2CBE31-E3FE-47C4-AD68-62F1754F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15050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If live provider data is unavailable, continue with the sample provider and local account, hub, and alert flows.</a:t>
            </a:r>
          </a:p>
        </p:txBody>
      </p:sp>
    </p:spTree>
    <p:extLst>
      <p:ext uri="{BB962C8B-B14F-4D97-AF65-F5344CB8AC3E}">
        <p14:creationId xmlns:p14="http://schemas.microsoft.com/office/powerpoint/2010/main" val="19501916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8C137E-8ACD-4B79-8462-1B0A7A6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ED8C6-75CC-4A7A-A118-84E1BEC9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working release completes four connected fan journeys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9AD72-36E0-46E6-97A2-79884573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8B372-E610-4BD2-B4B6-F87338A7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BE27D-255E-4AA2-95C6-98986B9A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800F5-51B0-422E-9871-5E6B6E2D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BFF36-A9B7-4DED-82D7-8F92C03D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811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Matchday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3C372-5163-47F9-BACC-25BA6D5A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Browse a selected local date, filter live/half-time/full-time/scheduled games, and paginate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AE631-DE00-4FB4-820F-5A3006E9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002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5062C-AF2D-4F07-9091-A916B469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FFB4B-0A6A-473E-95F7-B92B0817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764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13DB5-8B09-4001-A22E-02D7E104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7811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Fixture detail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FEAF7-34A9-403D-BBE6-6479978F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241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Open overview, statistics, lineups, timeline, and a clearly labeled chat placeholder.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3902A-F4B9-4CCB-817A-8D07CA88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16EE8-34DF-4791-9245-40644782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606C0-1EB5-4F13-9FD5-47ECBB1C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FEED3-2617-46BC-BB38-5C19982E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147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Team hub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D7342-C083-4131-966A-47A7EAD1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Search teams, view useful profiles and recent searches, then follow or remove a team.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62469-3C8D-4EC3-A3B0-F6BE9D6B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338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E224F-CB57-440E-806E-6952A988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924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2C230-AFA9-4698-9F95-A2C60CE1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100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67EF9-C349-464C-9180-B3D71E49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9147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Alert inbox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302D8-6C8E-4657-99CF-2E69639C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4577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Review persisted summaries, unread counts, preferences, individual read state, and mark-all-read.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E23F2-3123-436B-B3F4-9ED0274D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93DEAB-551F-4E98-92ED-99880F86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Release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420547-C1A1-4011-87CA-200708D1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9245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SSE, automated match alerts, ticketing, Redis, admin workflows, and cloud hosting are planned.</a:t>
            </a:r>
          </a:p>
        </p:txBody>
      </p:sp>
    </p:spTree>
    <p:extLst>
      <p:ext uri="{BB962C8B-B14F-4D97-AF65-F5344CB8AC3E}">
        <p14:creationId xmlns:p14="http://schemas.microsoft.com/office/powerpoint/2010/main" val="11596348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8C137E-8ACD-4B79-8462-1B0A7A6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ED8C6-75CC-4A7A-A118-84E1BEC9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working release completes four connected fan journeys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9AD72-36E0-46E6-97A2-79884573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8B372-E610-4BD2-B4B6-F87338A7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BE27D-255E-4AA2-95C6-98986B9A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800F5-51B0-422E-9871-5E6B6E2D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BFF36-A9B7-4DED-82D7-8F92C03D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811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Matchday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3C372-5163-47F9-BACC-25BA6D5A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Browse a selected local date, filter live/half-time/full-time/scheduled games, and paginate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AE631-DE00-4FB4-820F-5A3006E9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002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5062C-AF2D-4F07-9091-A916B469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FFB4B-0A6A-473E-95F7-B92B0817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764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13DB5-8B09-4001-A22E-02D7E104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7811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Fixture detail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FEAF7-34A9-403D-BBE6-6479978F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241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Open overview, statistics, lineups, timeline, and a clearly labeled chat placeholder.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3902A-F4B9-4CCB-817A-8D07CA88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16EE8-34DF-4791-9245-40644782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606C0-1EB5-4F13-9FD5-47ECBB1C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FEED3-2617-46BC-BB38-5C19982E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147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Team hub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D7342-C083-4131-966A-47A7EAD1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Search teams, view useful profiles and recent searches, then follow or remove a team.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62469-3C8D-4EC3-A3B0-F6BE9D6B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338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E224F-CB57-440E-806E-6952A988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924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2C230-AFA9-4698-9F95-A2C60CE1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100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67EF9-C349-464C-9180-B3D71E49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9147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Alert inbox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302D8-6C8E-4657-99CF-2E69639C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4577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Review persisted summaries, unread counts, preferences, individual read state, and mark-all-read.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E23F2-3123-436B-B3F4-9ED0274D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93DEAB-551F-4E98-92ED-99880F86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Release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420547-C1A1-4011-87CA-200708D1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9245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SSE, automated match alerts, ticketing, Redis, admin workflows, and cloud hosting are planned.</a:t>
            </a:r>
          </a:p>
        </p:txBody>
      </p:sp>
    </p:spTree>
    <p:extLst>
      <p:ext uri="{BB962C8B-B14F-4D97-AF65-F5344CB8AC3E}">
        <p14:creationId xmlns:p14="http://schemas.microsoft.com/office/powerpoint/2010/main" val="11596348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2AF14-3970-457B-A22F-190C1526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D790B-5F92-444C-A1EE-C06D335E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core stack favors speed, clarity, and strong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9C0EF-0665-43B4-87F6-FC572704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14A28-3A7F-4431-A338-253C8B28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70417-ED21-48B9-9B9A-87DE4050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47"/>
          </a:solidFill>
          <a:ln xmlns:a="http://schemas.openxmlformats.org/drawingml/2006/main" w="0">
            <a:solidFill>
              <a:srgbClr val="1762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C696B-4C08-4B78-AE4A-8CE74FEF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React + TypeScript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9EB32-7584-4D07-B700-79CDD7B4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Responsive client and explicit contracts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6C1B3-0B1A-4C3F-ADFC-D18D1A79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Reusable page and form components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Client-side routing for clear fan journeys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Type checking catches API-shape mistakes early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Vite keeps local development and builds fast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FC067-5138-4A76-BF0B-CEFA0193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D7534-064E-461B-9A81-21A9771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CBBCF-69D5-473D-86BF-69E28646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FastAPI + Pydantic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14435-B183-46B1-B9EC-DC6BE1C2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3D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3D2F"/>
                </a:solidFill>
                <a:latin typeface="Aptos"/>
                <a:ea typeface="Aptos"/>
                <a:cs typeface="Aptos"/>
              </a:rPr>
              <a:t>Small API surface with built-in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D048F-650A-4F21-B940-F0403972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Versioned REST endpoints and OpenAPI documentation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Typed request and response schemas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Dependency-based authentication and authorization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Straightforward unit and API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74FD5-C0E8-48DC-A870-8FE9C16F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C9D4F-EA19-4096-A685-20F0594F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7A34"/>
          </a:solidFill>
          <a:ln xmlns:a="http://schemas.openxmlformats.org/drawingml/2006/main" w="0">
            <a:solidFill>
              <a:srgbClr val="D47A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4FD92-3CEA-40D1-9D40-E0FE7F1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6A5B0-5B4D-4CA3-B397-9E83BBF8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47A3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47A34"/>
                </a:solidFill>
                <a:latin typeface="Aptos"/>
                <a:ea typeface="Aptos"/>
                <a:cs typeface="Aptos"/>
              </a:rPr>
              <a:t>One repeatable environment for the full stack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0180F-3075-4AB7-B57E-C5A84A4B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Starts PostgreSQL, migrations, API, and web client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Reduces machine-specific setup differences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Preserves service boundaries without microservices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Supports a separate PostgreSQL test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7DAA1-EFB2-406D-A168-E486649E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Selection principle: use mature tools that make the architecture visible without adding unnecessary operational complexity.</a:t>
            </a:r>
          </a:p>
        </p:txBody>
      </p:sp>
    </p:spTree>
    <p:extLst>
      <p:ext uri="{BB962C8B-B14F-4D97-AF65-F5344CB8AC3E}">
        <p14:creationId xmlns:p14="http://schemas.microsoft.com/office/powerpoint/2010/main" val="15408994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2AF14-3970-457B-A22F-190C1526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D790B-5F92-444C-A1EE-C06D335E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core stack favors speed, clarity, and strong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9C0EF-0665-43B4-87F6-FC572704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14A28-3A7F-4431-A338-253C8B28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70417-ED21-48B9-9B9A-87DE4050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47"/>
          </a:solidFill>
          <a:ln xmlns:a="http://schemas.openxmlformats.org/drawingml/2006/main" w="0">
            <a:solidFill>
              <a:srgbClr val="1762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C696B-4C08-4B78-AE4A-8CE74FEF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React + TypeScript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9EB32-7584-4D07-B700-79CDD7B4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Responsive client and explicit contracts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6C1B3-0B1A-4C3F-ADFC-D18D1A79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Reusable page and form components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Client-side routing for clear fan journeys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Type checking catches API-shape mistakes early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Vite keeps local development and builds fast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FC067-5138-4A76-BF0B-CEFA0193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D7534-064E-461B-9A81-21A9771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CBBCF-69D5-473D-86BF-69E28646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FastAPI + Pydantic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14435-B183-46B1-B9EC-DC6BE1C2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3D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3D2F"/>
                </a:solidFill>
                <a:latin typeface="Aptos"/>
                <a:ea typeface="Aptos"/>
                <a:cs typeface="Aptos"/>
              </a:rPr>
              <a:t>Small API surface with built-in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D048F-650A-4F21-B940-F0403972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Versioned REST endpoints and OpenAPI documentation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Typed request and response schemas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Dependency-based authentication and authorization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Straightforward unit and API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74FD5-C0E8-48DC-A870-8FE9C16F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C9D4F-EA19-4096-A685-20F0594F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7A34"/>
          </a:solidFill>
          <a:ln xmlns:a="http://schemas.openxmlformats.org/drawingml/2006/main" w="0">
            <a:solidFill>
              <a:srgbClr val="D47A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4FD92-3CEA-40D1-9D40-E0FE7F1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6A5B0-5B4D-4CA3-B397-9E83BBF8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47A3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47A34"/>
                </a:solidFill>
                <a:latin typeface="Aptos"/>
                <a:ea typeface="Aptos"/>
                <a:cs typeface="Aptos"/>
              </a:rPr>
              <a:t>One repeatable environment for the full stack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0180F-3075-4AB7-B57E-C5A84A4B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Starts PostgreSQL, migrations, API, and web client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Reduces machine-specific setup differences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Preserves service boundaries without microservices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Supports a separate PostgreSQL test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7DAA1-EFB2-406D-A168-E486649E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Selection principle: use mature tools that make the architecture visible without adding unnecessary operational complexity.</a:t>
            </a:r>
          </a:p>
        </p:txBody>
      </p:sp>
    </p:spTree>
    <p:extLst>
      <p:ext uri="{BB962C8B-B14F-4D97-AF65-F5344CB8AC3E}">
        <p14:creationId xmlns:p14="http://schemas.microsoft.com/office/powerpoint/2010/main" val="15408994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3D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3360F-586B-43E7-94A5-DAECB57B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67920-C967-473F-A8CF-187BA548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working foundation for a broader sports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73395-C01D-4CB2-864C-DA3D7427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Working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ACD30-8A6A-49EC-8B52-F58959F7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7EC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CE7"/>
                </a:solidFill>
                <a:latin typeface="Aptos"/>
                <a:ea typeface="Aptos"/>
                <a:cs typeface="Aptos"/>
              </a:rPr>
              <a:t>A tested football workflow for matchdays, fixture detail, team personalization, authentication, and alerts.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32493-09E9-46CE-AADD-DD2BAB47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Designed next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B2D4B-C493-45FF-98A1-7F26700A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4648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7EC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CE7"/>
                </a:solidFill>
                <a:latin typeface="Aptos"/>
                <a:ea typeface="Aptos"/>
                <a:cs typeface="Aptos"/>
              </a:rPr>
              <a:t>Realtime updates, automated notifications, official tickets, featured tournaments, and scalable infrastructure.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308F3-57E9-4613-896A-DFD87B3F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The constant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32F0A-FF78-4BA6-8B3D-54E94A6D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29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Stable boundaries keep the product understandable as it grows.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D8F11-FC35-481C-BEFA-AAF9F545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9125"/>
            <a:ext cx="4343400" cy="53149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ee75eeb8a4de0"/>
          <a:srcRect xmlns:a="http://schemas.openxmlformats.org/drawingml/2006/main" l="27110" t="0" r="27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666750"/>
            <a:ext cx="4248150" cy="5219700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AC347-0F36-4FA1-88C5-AB7E3631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103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410658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2026-08-25T14:12:17.7340000Z</dcterms:created>
  <dcterms:modified xsi:type="dcterms:W3CDTF">2026-08-25T14:12:17.7340000Z</dcterms:modified>
</coreProperties>
</file>